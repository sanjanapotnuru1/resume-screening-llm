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68" r:id="rId15"/>
    <p:sldId id="269" r:id="rId16"/>
  </p:sldIdLst>
  <p:sldSz cx="14630400" cy="8229600"/>
  <p:notesSz cx="8229600" cy="14630400"/>
  <p:embeddedFontLst>
    <p:embeddedFont>
      <p:font typeface="Consolas" panose="020B0609020204030204" pitchFamily="49" charset="0"/>
      <p:regular r:id="rId18"/>
      <p:bold r:id="rId19"/>
      <p:italic r:id="rId20"/>
      <p:boldItalic r:id="rId21"/>
    </p:embeddedFont>
    <p:embeddedFont>
      <p:font typeface="Inter"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sh Kapoor" initials="D" lastIdx="1" clrIdx="0">
    <p:extLst>
      <p:ext uri="{19B8F6BF-5375-455C-9EA6-DF929625EA0E}">
        <p15:presenceInfo xmlns:p15="http://schemas.microsoft.com/office/powerpoint/2012/main" userId="Vansh Kapo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5184" autoAdjust="0"/>
  </p:normalViewPr>
  <p:slideViewPr>
    <p:cSldViewPr snapToGrid="0" snapToObjects="1">
      <p:cViewPr>
        <p:scale>
          <a:sx n="75" d="100"/>
          <a:sy n="75" d="100"/>
        </p:scale>
        <p:origin x="216"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8159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51791"/>
            <a:ext cx="7556421" cy="1302544"/>
          </a:xfrm>
          <a:prstGeom prst="rect">
            <a:avLst/>
          </a:prstGeom>
          <a:noFill/>
          <a:ln/>
        </p:spPr>
        <p:txBody>
          <a:bodyPr wrap="square" lIns="0" tIns="0" rIns="0" bIns="0" rtlCol="0" anchor="t"/>
          <a:lstStyle/>
          <a:p>
            <a:pPr>
              <a:lnSpc>
                <a:spcPts val="5100"/>
              </a:lnSpc>
            </a:pPr>
            <a:r>
              <a:rPr lang="en-US" sz="4100" b="1" dirty="0">
                <a:solidFill>
                  <a:srgbClr val="000000"/>
                </a:solidFill>
                <a:latin typeface="Petrona Bold" pitchFamily="34" charset="0"/>
                <a:ea typeface="Petrona Bold" pitchFamily="34" charset="-122"/>
                <a:cs typeface="Petrona Bold" pitchFamily="34" charset="-120"/>
              </a:rPr>
              <a:t>Resume Screening AI Assistant Project</a:t>
            </a:r>
            <a:endParaRPr lang="en-US" sz="4100" dirty="0"/>
          </a:p>
        </p:txBody>
      </p:sp>
      <p:sp>
        <p:nvSpPr>
          <p:cNvPr id="4" name="Text 1"/>
          <p:cNvSpPr/>
          <p:nvPr/>
        </p:nvSpPr>
        <p:spPr>
          <a:xfrm>
            <a:off x="793789" y="3240996"/>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Automating resume classification and screening</a:t>
            </a:r>
            <a:endParaRPr lang="en-US" sz="1550" dirty="0"/>
          </a:p>
        </p:txBody>
      </p:sp>
      <p:sp>
        <p:nvSpPr>
          <p:cNvPr id="5" name="Text 2"/>
          <p:cNvSpPr/>
          <p:nvPr/>
        </p:nvSpPr>
        <p:spPr>
          <a:xfrm>
            <a:off x="793790" y="3572731"/>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Using advanced ML and NLP techniques</a:t>
            </a:r>
            <a:endParaRPr lang="en-US" sz="1550" dirty="0"/>
          </a:p>
        </p:txBody>
      </p:sp>
      <p:sp>
        <p:nvSpPr>
          <p:cNvPr id="6" name="TextBox 5">
            <a:extLst>
              <a:ext uri="{FF2B5EF4-FFF2-40B4-BE49-F238E27FC236}">
                <a16:creationId xmlns:a16="http://schemas.microsoft.com/office/drawing/2014/main" id="{EE02AC6E-2370-4EE6-42C6-AE2B4918A4E3}"/>
              </a:ext>
            </a:extLst>
          </p:cNvPr>
          <p:cNvSpPr txBox="1"/>
          <p:nvPr/>
        </p:nvSpPr>
        <p:spPr>
          <a:xfrm>
            <a:off x="793790" y="4708667"/>
            <a:ext cx="7345499" cy="2239074"/>
          </a:xfrm>
          <a:prstGeom prst="rect">
            <a:avLst/>
          </a:prstGeom>
          <a:noFill/>
        </p:spPr>
        <p:txBody>
          <a:bodyPr wrap="square" rtlCol="0">
            <a:spAutoFit/>
          </a:bodyPr>
          <a:lstStyle/>
          <a:p>
            <a:endParaRPr lang="en-US" sz="1550" dirty="0">
              <a:latin typeface="Inter" panose="020B0604020202020204" charset="0"/>
              <a:ea typeface="Inter" panose="020B0604020202020204" charset="0"/>
            </a:endParaRPr>
          </a:p>
          <a:p>
            <a:pPr algn="ctr"/>
            <a:r>
              <a:rPr lang="en-US" sz="1550" dirty="0">
                <a:latin typeface="Inter" panose="020B0604020202020204" charset="0"/>
                <a:ea typeface="Inter" panose="020B0604020202020204" charset="0"/>
              </a:rPr>
              <a:t>Name - </a:t>
            </a:r>
            <a:r>
              <a:rPr lang="en-US" sz="1550" b="1" dirty="0">
                <a:latin typeface="Inter" panose="020B0604020202020204" charset="0"/>
                <a:ea typeface="Inter" panose="020B0604020202020204" charset="0"/>
              </a:rPr>
              <a:t>Vansh Kapoor </a:t>
            </a:r>
          </a:p>
          <a:p>
            <a:pPr algn="ctr"/>
            <a:r>
              <a:rPr lang="en-US" sz="1550" dirty="0">
                <a:latin typeface="Inter" panose="020B0604020202020204" charset="0"/>
                <a:ea typeface="Inter" panose="020B0604020202020204" charset="0"/>
              </a:rPr>
              <a:t>PRN – </a:t>
            </a:r>
            <a:r>
              <a:rPr lang="en-US" sz="1550" b="1" dirty="0">
                <a:latin typeface="Inter" panose="020B0604020202020204" charset="0"/>
                <a:ea typeface="Inter" panose="020B0604020202020204" charset="0"/>
              </a:rPr>
              <a:t>25030242064</a:t>
            </a:r>
          </a:p>
          <a:p>
            <a:pPr algn="ctr"/>
            <a:endParaRPr lang="en-US" sz="1550" dirty="0">
              <a:latin typeface="Inter" panose="020B0604020202020204" charset="0"/>
              <a:ea typeface="Inter" panose="020B0604020202020204" charset="0"/>
            </a:endParaRPr>
          </a:p>
          <a:p>
            <a:pPr algn="ctr"/>
            <a:r>
              <a:rPr lang="en-US" sz="1550" dirty="0">
                <a:latin typeface="Inter" panose="020B0604020202020204" charset="0"/>
                <a:ea typeface="Inter" panose="020B0604020202020204" charset="0"/>
              </a:rPr>
              <a:t>Name - </a:t>
            </a:r>
            <a:r>
              <a:rPr lang="en-US" sz="1550" b="1" dirty="0">
                <a:latin typeface="Inter" panose="020B0604020202020204" charset="0"/>
                <a:ea typeface="Inter" panose="020B0604020202020204" charset="0"/>
              </a:rPr>
              <a:t>Venkat Saiamruta Sanjana Potnuru </a:t>
            </a:r>
          </a:p>
          <a:p>
            <a:pPr algn="ctr"/>
            <a:r>
              <a:rPr lang="en-US" sz="1550" dirty="0">
                <a:latin typeface="Inter" panose="020B0604020202020204" charset="0"/>
                <a:ea typeface="Inter" panose="020B0604020202020204" charset="0"/>
              </a:rPr>
              <a:t>PRN – </a:t>
            </a:r>
            <a:r>
              <a:rPr lang="en-US" sz="1550" b="1" dirty="0">
                <a:latin typeface="Inter" panose="020B0604020202020204" charset="0"/>
                <a:ea typeface="Inter" panose="020B0604020202020204" charset="0"/>
              </a:rPr>
              <a:t>25030242066</a:t>
            </a:r>
          </a:p>
          <a:p>
            <a:pPr algn="ctr"/>
            <a:endParaRPr lang="en-US" sz="1550" dirty="0">
              <a:latin typeface="Inter" panose="020B0604020202020204" charset="0"/>
              <a:ea typeface="Inter" panose="020B0604020202020204" charset="0"/>
            </a:endParaRPr>
          </a:p>
          <a:p>
            <a:pPr algn="ctr"/>
            <a:r>
              <a:rPr lang="en-US" sz="1550" dirty="0">
                <a:latin typeface="Inter" panose="020B0604020202020204" charset="0"/>
                <a:ea typeface="Inter" panose="020B0604020202020204" charset="0"/>
              </a:rPr>
              <a:t>Name - </a:t>
            </a:r>
            <a:r>
              <a:rPr lang="en-US" sz="1550" b="1" dirty="0">
                <a:latin typeface="Inter" panose="020B0604020202020204" charset="0"/>
                <a:ea typeface="Inter" panose="020B0604020202020204" charset="0"/>
              </a:rPr>
              <a:t>V Vignan </a:t>
            </a:r>
          </a:p>
          <a:p>
            <a:pPr algn="ctr"/>
            <a:r>
              <a:rPr lang="en-US" sz="1550" dirty="0">
                <a:latin typeface="Inter" panose="020B0604020202020204" charset="0"/>
                <a:ea typeface="Inter" panose="020B0604020202020204" charset="0"/>
              </a:rPr>
              <a:t>PRN - </a:t>
            </a:r>
            <a:r>
              <a:rPr lang="en-US" sz="1550" b="1" dirty="0">
                <a:latin typeface="Inter" panose="020B0604020202020204" charset="0"/>
                <a:ea typeface="Inter" panose="020B0604020202020204" charset="0"/>
              </a:rPr>
              <a:t>25030242069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69235"/>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Project Objective</a:t>
            </a:r>
            <a:endParaRPr lang="en-US" sz="4100" dirty="0"/>
          </a:p>
        </p:txBody>
      </p:sp>
      <p:sp>
        <p:nvSpPr>
          <p:cNvPr id="3" name="Shape 1"/>
          <p:cNvSpPr/>
          <p:nvPr/>
        </p:nvSpPr>
        <p:spPr>
          <a:xfrm>
            <a:off x="793790" y="3127022"/>
            <a:ext cx="4215289" cy="4447822"/>
          </a:xfrm>
          <a:prstGeom prst="roundRect">
            <a:avLst>
              <a:gd name="adj" fmla="val 5588"/>
            </a:avLst>
          </a:prstGeom>
          <a:solidFill>
            <a:srgbClr val="CCEEFF"/>
          </a:solidFill>
          <a:ln w="7620">
            <a:solidFill>
              <a:srgbClr val="B2D4E5"/>
            </a:solidFill>
            <a:prstDash val="solid"/>
          </a:ln>
        </p:spPr>
        <p:txBody>
          <a:bodyPr/>
          <a:lstStyle/>
          <a:p>
            <a:endParaRPr lang="en-US"/>
          </a:p>
        </p:txBody>
      </p:sp>
      <p:sp>
        <p:nvSpPr>
          <p:cNvPr id="4" name="Text 2"/>
          <p:cNvSpPr/>
          <p:nvPr/>
        </p:nvSpPr>
        <p:spPr>
          <a:xfrm>
            <a:off x="988754" y="3315611"/>
            <a:ext cx="2736175"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Build Predictive Model</a:t>
            </a:r>
            <a:endParaRPr lang="en-US" sz="2050" dirty="0"/>
          </a:p>
        </p:txBody>
      </p:sp>
      <p:sp>
        <p:nvSpPr>
          <p:cNvPr id="5" name="Text 3"/>
          <p:cNvSpPr/>
          <p:nvPr/>
        </p:nvSpPr>
        <p:spPr>
          <a:xfrm>
            <a:off x="988754" y="3825975"/>
            <a:ext cx="3803333" cy="3564140"/>
          </a:xfrm>
          <a:prstGeom prst="rect">
            <a:avLst/>
          </a:prstGeom>
          <a:noFill/>
          <a:ln/>
        </p:spPr>
        <p:txBody>
          <a:bodyPr wrap="square" lIns="0" tIns="0" rIns="0" bIns="0" rtlCol="0" anchor="t"/>
          <a:lstStyle/>
          <a:p>
            <a:pPr>
              <a:lnSpc>
                <a:spcPts val="2500"/>
              </a:lnSpc>
            </a:pPr>
            <a:r>
              <a:rPr lang="en-IN" sz="1550" dirty="0">
                <a:solidFill>
                  <a:srgbClr val="272525"/>
                </a:solidFill>
                <a:latin typeface="Inter" pitchFamily="34" charset="0"/>
                <a:ea typeface="Inter" pitchFamily="34" charset="-122"/>
                <a:cs typeface="Inter" pitchFamily="34" charset="-120"/>
              </a:rPr>
              <a:t>Build a predictive model to classify resumes into job roles by analysing skills, experience, education, and keywords. The model should leverage natural language processing (NLP) and machine learning algorithms to accurately map candidate profiles to relevant positions, improving recruitment efficiency, automating screening, and ensuring better role-person fit.</a:t>
            </a:r>
            <a:endParaRPr lang="en-US" sz="1550" dirty="0"/>
          </a:p>
        </p:txBody>
      </p:sp>
      <p:sp>
        <p:nvSpPr>
          <p:cNvPr id="6" name="Shape 4"/>
          <p:cNvSpPr/>
          <p:nvPr/>
        </p:nvSpPr>
        <p:spPr>
          <a:xfrm>
            <a:off x="5199816" y="3123583"/>
            <a:ext cx="4215408" cy="4451261"/>
          </a:xfrm>
          <a:prstGeom prst="roundRect">
            <a:avLst>
              <a:gd name="adj" fmla="val 5588"/>
            </a:avLst>
          </a:prstGeom>
          <a:solidFill>
            <a:srgbClr val="CCEEFF"/>
          </a:solidFill>
          <a:ln w="7620">
            <a:solidFill>
              <a:srgbClr val="B2D4E5"/>
            </a:solidFill>
            <a:prstDash val="solid"/>
          </a:ln>
        </p:spPr>
        <p:txBody>
          <a:bodyPr/>
          <a:lstStyle/>
          <a:p>
            <a:endParaRPr lang="en-US"/>
          </a:p>
        </p:txBody>
      </p:sp>
      <p:sp>
        <p:nvSpPr>
          <p:cNvPr id="7" name="Text 5"/>
          <p:cNvSpPr/>
          <p:nvPr/>
        </p:nvSpPr>
        <p:spPr>
          <a:xfrm>
            <a:off x="5413415" y="331561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Automate Screening</a:t>
            </a:r>
            <a:endParaRPr lang="en-US" sz="2050" dirty="0"/>
          </a:p>
        </p:txBody>
      </p:sp>
      <p:sp>
        <p:nvSpPr>
          <p:cNvPr id="8" name="Text 6"/>
          <p:cNvSpPr/>
          <p:nvPr/>
        </p:nvSpPr>
        <p:spPr>
          <a:xfrm>
            <a:off x="5405794" y="3825975"/>
            <a:ext cx="3803452" cy="3631151"/>
          </a:xfrm>
          <a:prstGeom prst="rect">
            <a:avLst/>
          </a:prstGeom>
          <a:noFill/>
          <a:ln/>
        </p:spPr>
        <p:txBody>
          <a:bodyPr wrap="square" lIns="0" tIns="0" rIns="0" bIns="0" rtlCol="0" anchor="t"/>
          <a:lstStyle/>
          <a:p>
            <a:pPr>
              <a:lnSpc>
                <a:spcPts val="2500"/>
              </a:lnSpc>
            </a:pPr>
            <a:r>
              <a:rPr lang="en-IN" sz="1550" dirty="0">
                <a:solidFill>
                  <a:srgbClr val="272525"/>
                </a:solidFill>
                <a:latin typeface="Inter" pitchFamily="34" charset="0"/>
                <a:ea typeface="Inter" pitchFamily="34" charset="-122"/>
                <a:cs typeface="Inter" pitchFamily="34" charset="-120"/>
              </a:rPr>
              <a:t>Automate screening to shortlist candidates matching job criteria by using intelligent algorithms that evaluate resumes against predefined requirements such as skills, education, experience, and certifications. This approach reduces manual effort, minimizes bias, accelerates the hiring process, and ensures only the most relevant applicants are forwarded for further evaluation and interviews.</a:t>
            </a:r>
            <a:endParaRPr lang="en-US" sz="1550" dirty="0"/>
          </a:p>
        </p:txBody>
      </p:sp>
      <p:sp>
        <p:nvSpPr>
          <p:cNvPr id="9" name="Shape 7"/>
          <p:cNvSpPr/>
          <p:nvPr/>
        </p:nvSpPr>
        <p:spPr>
          <a:xfrm>
            <a:off x="9621203" y="3127022"/>
            <a:ext cx="4215289" cy="4447822"/>
          </a:xfrm>
          <a:prstGeom prst="roundRect">
            <a:avLst>
              <a:gd name="adj" fmla="val 5588"/>
            </a:avLst>
          </a:prstGeom>
          <a:solidFill>
            <a:srgbClr val="CCEEFF"/>
          </a:solidFill>
          <a:ln w="7620">
            <a:solidFill>
              <a:srgbClr val="B2D4E5"/>
            </a:solidFill>
            <a:prstDash val="solid"/>
          </a:ln>
        </p:spPr>
        <p:txBody>
          <a:bodyPr/>
          <a:lstStyle/>
          <a:p>
            <a:endParaRPr lang="en-US"/>
          </a:p>
        </p:txBody>
      </p:sp>
      <p:sp>
        <p:nvSpPr>
          <p:cNvPr id="10" name="Text 8"/>
          <p:cNvSpPr/>
          <p:nvPr/>
        </p:nvSpPr>
        <p:spPr>
          <a:xfrm>
            <a:off x="9827181" y="331561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Real-time API</a:t>
            </a:r>
            <a:endParaRPr lang="en-US" sz="2050" dirty="0"/>
          </a:p>
        </p:txBody>
      </p:sp>
      <p:sp>
        <p:nvSpPr>
          <p:cNvPr id="11" name="Text 9"/>
          <p:cNvSpPr/>
          <p:nvPr/>
        </p:nvSpPr>
        <p:spPr>
          <a:xfrm>
            <a:off x="9827180" y="3825975"/>
            <a:ext cx="3803333" cy="3564140"/>
          </a:xfrm>
          <a:prstGeom prst="rect">
            <a:avLst/>
          </a:prstGeom>
          <a:noFill/>
          <a:ln/>
        </p:spPr>
        <p:txBody>
          <a:bodyPr wrap="square" lIns="0" tIns="0" rIns="0" bIns="0" rtlCol="0" anchor="t"/>
          <a:lstStyle/>
          <a:p>
            <a:pPr>
              <a:lnSpc>
                <a:spcPts val="2500"/>
              </a:lnSpc>
            </a:pPr>
            <a:r>
              <a:rPr lang="en-IN" sz="1550" dirty="0">
                <a:solidFill>
                  <a:srgbClr val="272525"/>
                </a:solidFill>
                <a:latin typeface="Inter" pitchFamily="34" charset="0"/>
                <a:ea typeface="Inter" pitchFamily="34" charset="-122"/>
                <a:cs typeface="Inter" pitchFamily="34" charset="-120"/>
              </a:rPr>
              <a:t>Provide real-time predictions via a REST API by integrating the trained machine learning model into a scalable service that accepts resume data as input and instantly returns the predicted job role. This enables seamless integration with recruitment platforms, HR systems, and career portals, ensuring efficient, automated, and accurate candidate classification.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05683"/>
            <a:ext cx="6332101"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Dataset and Preprocessing</a:t>
            </a:r>
            <a:endParaRPr lang="en-US" sz="4100" dirty="0"/>
          </a:p>
        </p:txBody>
      </p:sp>
      <p:sp>
        <p:nvSpPr>
          <p:cNvPr id="3" name="Text 1"/>
          <p:cNvSpPr/>
          <p:nvPr/>
        </p:nvSpPr>
        <p:spPr>
          <a:xfrm>
            <a:off x="793790" y="1852970"/>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Dataset Overview</a:t>
            </a:r>
            <a:endParaRPr lang="en-US" sz="2050" dirty="0"/>
          </a:p>
        </p:txBody>
      </p:sp>
      <p:sp>
        <p:nvSpPr>
          <p:cNvPr id="4" name="Text 2"/>
          <p:cNvSpPr/>
          <p:nvPr/>
        </p:nvSpPr>
        <p:spPr>
          <a:xfrm>
            <a:off x="793790" y="2376964"/>
            <a:ext cx="7632025" cy="4968240"/>
          </a:xfrm>
          <a:prstGeom prst="rect">
            <a:avLst/>
          </a:prstGeom>
          <a:noFill/>
          <a:ln/>
        </p:spPr>
        <p:txBody>
          <a:bodyPr wrap="square" lIns="0" tIns="0" rIns="0" bIns="0" rtlCol="0" anchor="t"/>
          <a:lstStyle/>
          <a:p>
            <a:pPr>
              <a:lnSpc>
                <a:spcPts val="2500"/>
              </a:lnSpc>
            </a:pPr>
            <a:r>
              <a:rPr lang="en-IN" sz="1550" dirty="0">
                <a:solidFill>
                  <a:srgbClr val="272525"/>
                </a:solidFill>
                <a:latin typeface="Inter" pitchFamily="34" charset="0"/>
                <a:ea typeface="Inter" pitchFamily="34" charset="-122"/>
                <a:cs typeface="Inter" pitchFamily="34" charset="-120"/>
              </a:rPr>
              <a:t>The dataset comprises more than 500 resumes, each containing job roles and relevant skills, providing a comprehensive foundation for predictive modelling. To ensure data quality, missing values must be addressed systematically using imputation or filtering methods. Proper handling prevents bias and improves reliability, ensuring that the model can learn patterns effectively without being influenced by incomplete or inconsistent records.</a:t>
            </a:r>
          </a:p>
          <a:p>
            <a:pPr>
              <a:lnSpc>
                <a:spcPts val="2500"/>
              </a:lnSpc>
            </a:pPr>
            <a:endParaRPr lang="en-IN" sz="1550" dirty="0">
              <a:solidFill>
                <a:srgbClr val="272525"/>
              </a:solidFill>
              <a:latin typeface="Inter" pitchFamily="34" charset="0"/>
              <a:ea typeface="Inter" pitchFamily="34" charset="-122"/>
            </a:endParaRPr>
          </a:p>
          <a:p>
            <a:pPr>
              <a:lnSpc>
                <a:spcPts val="2500"/>
              </a:lnSpc>
            </a:pPr>
            <a:r>
              <a:rPr lang="en-IN" sz="1550" dirty="0">
                <a:latin typeface="Inter" panose="020B0604020202020204" charset="0"/>
                <a:ea typeface="Inter" panose="020B0604020202020204" charset="0"/>
              </a:rPr>
              <a:t>Beyond cleaning, it is crucial to parse and transform candidate experience ranges into meaningful numeric variables, such as minimum and maximum years of experience, which serve as structured features for the model. Additionally, the skills data must undergo text preprocessing steps like tokenization, lowercasing, and whitespace removal. These refinements standardize inputs, improve feature extraction, and enhance the performance of natural language processing techniques.</a:t>
            </a:r>
            <a:endParaRPr lang="en-US" sz="1550" dirty="0">
              <a:latin typeface="Inter" panose="020B0604020202020204" charset="0"/>
              <a:ea typeface="Inter" panose="020B0604020202020204" charset="0"/>
            </a:endParaRPr>
          </a:p>
        </p:txBody>
      </p:sp>
      <p:pic>
        <p:nvPicPr>
          <p:cNvPr id="8" name="Image 0" descr="preencoded.png"/>
          <p:cNvPicPr>
            <a:picLocks noChangeAspect="1"/>
          </p:cNvPicPr>
          <p:nvPr/>
        </p:nvPicPr>
        <p:blipFill>
          <a:blip r:embed="rId3"/>
          <a:stretch>
            <a:fillRect/>
          </a:stretch>
        </p:blipFill>
        <p:spPr>
          <a:xfrm>
            <a:off x="8917542" y="1682045"/>
            <a:ext cx="5148413" cy="55428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89" y="2918441"/>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Feature Engineering</a:t>
            </a:r>
            <a:endParaRPr lang="en-US" sz="4100" dirty="0"/>
          </a:p>
        </p:txBody>
      </p:sp>
      <p:sp>
        <p:nvSpPr>
          <p:cNvPr id="4" name="Text 1"/>
          <p:cNvSpPr/>
          <p:nvPr/>
        </p:nvSpPr>
        <p:spPr>
          <a:xfrm>
            <a:off x="793790" y="3864938"/>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5" name="Shape 2"/>
          <p:cNvSpPr/>
          <p:nvPr/>
        </p:nvSpPr>
        <p:spPr>
          <a:xfrm>
            <a:off x="793789" y="4232008"/>
            <a:ext cx="4215289" cy="22860"/>
          </a:xfrm>
          <a:prstGeom prst="rect">
            <a:avLst/>
          </a:prstGeom>
          <a:solidFill>
            <a:srgbClr val="007EBD"/>
          </a:solidFill>
          <a:ln/>
        </p:spPr>
        <p:txBody>
          <a:bodyPr/>
          <a:lstStyle/>
          <a:p>
            <a:endParaRPr lang="en-US"/>
          </a:p>
        </p:txBody>
      </p:sp>
      <p:sp>
        <p:nvSpPr>
          <p:cNvPr id="6" name="Text 3"/>
          <p:cNvSpPr/>
          <p:nvPr/>
        </p:nvSpPr>
        <p:spPr>
          <a:xfrm>
            <a:off x="793790" y="442545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TF-IDF Vectorization</a:t>
            </a:r>
            <a:endParaRPr lang="en-US" sz="2050" dirty="0"/>
          </a:p>
        </p:txBody>
      </p:sp>
      <p:sp>
        <p:nvSpPr>
          <p:cNvPr id="7" name="Text 4"/>
          <p:cNvSpPr/>
          <p:nvPr/>
        </p:nvSpPr>
        <p:spPr>
          <a:xfrm>
            <a:off x="793788" y="4762445"/>
            <a:ext cx="421528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TF-IDF vectorization of "Key Skills" (1320 features)</a:t>
            </a:r>
            <a:endParaRPr lang="en-US" sz="1550" dirty="0"/>
          </a:p>
        </p:txBody>
      </p:sp>
      <p:sp>
        <p:nvSpPr>
          <p:cNvPr id="8" name="Text 5"/>
          <p:cNvSpPr/>
          <p:nvPr/>
        </p:nvSpPr>
        <p:spPr>
          <a:xfrm>
            <a:off x="5207437" y="387079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9" name="Shape 6"/>
          <p:cNvSpPr/>
          <p:nvPr/>
        </p:nvSpPr>
        <p:spPr>
          <a:xfrm>
            <a:off x="5207437" y="4232008"/>
            <a:ext cx="4215408" cy="22860"/>
          </a:xfrm>
          <a:prstGeom prst="rect">
            <a:avLst/>
          </a:prstGeom>
          <a:solidFill>
            <a:srgbClr val="007EBD"/>
          </a:solidFill>
          <a:ln/>
        </p:spPr>
        <p:txBody>
          <a:bodyPr/>
          <a:lstStyle/>
          <a:p>
            <a:endParaRPr lang="en-US"/>
          </a:p>
        </p:txBody>
      </p:sp>
      <p:sp>
        <p:nvSpPr>
          <p:cNvPr id="10" name="Text 7"/>
          <p:cNvSpPr/>
          <p:nvPr/>
        </p:nvSpPr>
        <p:spPr>
          <a:xfrm>
            <a:off x="5207437" y="442545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Numeric Features</a:t>
            </a:r>
            <a:endParaRPr lang="en-US" sz="2050" dirty="0"/>
          </a:p>
        </p:txBody>
      </p:sp>
      <p:sp>
        <p:nvSpPr>
          <p:cNvPr id="11" name="Text 8"/>
          <p:cNvSpPr/>
          <p:nvPr/>
        </p:nvSpPr>
        <p:spPr>
          <a:xfrm>
            <a:off x="5220671" y="4762925"/>
            <a:ext cx="421540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Numeric features: min_exp, max_exp, salary</a:t>
            </a:r>
            <a:endParaRPr lang="en-US" sz="1550" dirty="0"/>
          </a:p>
        </p:txBody>
      </p:sp>
      <p:sp>
        <p:nvSpPr>
          <p:cNvPr id="12" name="Text 9"/>
          <p:cNvSpPr/>
          <p:nvPr/>
        </p:nvSpPr>
        <p:spPr>
          <a:xfrm>
            <a:off x="9621084" y="387079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03</a:t>
            </a:r>
            <a:endParaRPr lang="en-US" sz="1550" dirty="0"/>
          </a:p>
        </p:txBody>
      </p:sp>
      <p:sp>
        <p:nvSpPr>
          <p:cNvPr id="13" name="Shape 10"/>
          <p:cNvSpPr/>
          <p:nvPr/>
        </p:nvSpPr>
        <p:spPr>
          <a:xfrm>
            <a:off x="9621084" y="4220578"/>
            <a:ext cx="4215289" cy="22860"/>
          </a:xfrm>
          <a:prstGeom prst="rect">
            <a:avLst/>
          </a:prstGeom>
          <a:solidFill>
            <a:srgbClr val="007EBD"/>
          </a:solidFill>
          <a:ln/>
        </p:spPr>
        <p:txBody>
          <a:bodyPr/>
          <a:lstStyle/>
          <a:p>
            <a:endParaRPr lang="en-US"/>
          </a:p>
        </p:txBody>
      </p:sp>
      <p:sp>
        <p:nvSpPr>
          <p:cNvPr id="14" name="Text 11"/>
          <p:cNvSpPr/>
          <p:nvPr/>
        </p:nvSpPr>
        <p:spPr>
          <a:xfrm>
            <a:off x="9621084" y="443680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Matrix Combination</a:t>
            </a:r>
            <a:endParaRPr lang="en-US" sz="2050" dirty="0"/>
          </a:p>
        </p:txBody>
      </p:sp>
      <p:sp>
        <p:nvSpPr>
          <p:cNvPr id="15" name="Text 12"/>
          <p:cNvSpPr/>
          <p:nvPr/>
        </p:nvSpPr>
        <p:spPr>
          <a:xfrm>
            <a:off x="9621083" y="4766085"/>
            <a:ext cx="421528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Combination into sparse matrix for model input</a:t>
            </a:r>
            <a:endParaRPr lang="en-US" sz="1550" dirty="0"/>
          </a:p>
        </p:txBody>
      </p:sp>
      <p:sp>
        <p:nvSpPr>
          <p:cNvPr id="16" name="Text 13"/>
          <p:cNvSpPr/>
          <p:nvPr/>
        </p:nvSpPr>
        <p:spPr>
          <a:xfrm>
            <a:off x="793790" y="6356032"/>
            <a:ext cx="13042821" cy="317540"/>
          </a:xfrm>
          <a:prstGeom prst="rect">
            <a:avLst/>
          </a:prstGeom>
          <a:noFill/>
          <a:ln/>
        </p:spPr>
        <p:txBody>
          <a:bodyPr wrap="none" lIns="0" tIns="0" rIns="0" bIns="0" rtlCol="0" anchor="t"/>
          <a:lstStyle/>
          <a:p>
            <a:pPr marL="0" indent="0" algn="l">
              <a:lnSpc>
                <a:spcPts val="2500"/>
              </a:lnSpc>
              <a:buNone/>
            </a:pPr>
            <a:endParaRPr lang="en-US" sz="1550" dirty="0"/>
          </a:p>
        </p:txBody>
      </p:sp>
      <p:sp>
        <p:nvSpPr>
          <p:cNvPr id="17" name="Text 14"/>
          <p:cNvSpPr/>
          <p:nvPr/>
        </p:nvSpPr>
        <p:spPr>
          <a:xfrm>
            <a:off x="793551" y="7628440"/>
            <a:ext cx="13042821"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Diagram showing combining TF-IDF with numeric features</a:t>
            </a:r>
            <a:endParaRPr lang="en-US" sz="1550" dirty="0"/>
          </a:p>
        </p:txBody>
      </p:sp>
      <p:pic>
        <p:nvPicPr>
          <p:cNvPr id="19" name="Picture 18">
            <a:extLst>
              <a:ext uri="{FF2B5EF4-FFF2-40B4-BE49-F238E27FC236}">
                <a16:creationId xmlns:a16="http://schemas.microsoft.com/office/drawing/2014/main" id="{DDDF10C5-203F-1363-2C35-1B1F7931D2B8}"/>
              </a:ext>
            </a:extLst>
          </p:cNvPr>
          <p:cNvPicPr>
            <a:picLocks noChangeAspect="1"/>
          </p:cNvPicPr>
          <p:nvPr/>
        </p:nvPicPr>
        <p:blipFill>
          <a:blip r:embed="rId4"/>
          <a:stretch>
            <a:fillRect/>
          </a:stretch>
        </p:blipFill>
        <p:spPr>
          <a:xfrm>
            <a:off x="4925884" y="5493784"/>
            <a:ext cx="4778154" cy="2095682"/>
          </a:xfrm>
          <a:prstGeom prst="rect">
            <a:avLst/>
          </a:prstGeom>
          <a:ln>
            <a:solidFill>
              <a:schemeClr val="bg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96842"/>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Label Engineering</a:t>
            </a:r>
            <a:endParaRPr lang="en-US" sz="4100" dirty="0"/>
          </a:p>
        </p:txBody>
      </p:sp>
      <p:sp>
        <p:nvSpPr>
          <p:cNvPr id="3" name="Shape 1"/>
          <p:cNvSpPr/>
          <p:nvPr/>
        </p:nvSpPr>
        <p:spPr>
          <a:xfrm>
            <a:off x="793787" y="2133599"/>
            <a:ext cx="6422231" cy="5298831"/>
          </a:xfrm>
          <a:prstGeom prst="roundRect">
            <a:avLst>
              <a:gd name="adj" fmla="val 6920"/>
            </a:avLst>
          </a:prstGeom>
          <a:solidFill>
            <a:srgbClr val="FFFFFF">
              <a:alpha val="95000"/>
            </a:srgbClr>
          </a:solidFill>
          <a:ln w="22860">
            <a:solidFill>
              <a:srgbClr val="B2D4E5"/>
            </a:solidFill>
            <a:prstDash val="solid"/>
          </a:ln>
        </p:spPr>
        <p:txBody>
          <a:bodyPr wrap="square"/>
          <a:lstStyle/>
          <a:p>
            <a:endParaRPr lang="en-US"/>
          </a:p>
        </p:txBody>
      </p:sp>
      <p:sp>
        <p:nvSpPr>
          <p:cNvPr id="4" name="Text 2"/>
          <p:cNvSpPr/>
          <p:nvPr/>
        </p:nvSpPr>
        <p:spPr>
          <a:xfrm>
            <a:off x="1015008" y="23966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Class Grouping</a:t>
            </a:r>
            <a:endParaRPr lang="en-US" sz="2050" dirty="0"/>
          </a:p>
        </p:txBody>
      </p:sp>
      <p:sp>
        <p:nvSpPr>
          <p:cNvPr id="5" name="Text 3"/>
          <p:cNvSpPr/>
          <p:nvPr/>
        </p:nvSpPr>
        <p:spPr>
          <a:xfrm>
            <a:off x="1015004" y="2921594"/>
            <a:ext cx="5979795" cy="1756709"/>
          </a:xfrm>
          <a:prstGeom prst="rect">
            <a:avLst/>
          </a:prstGeom>
          <a:noFill/>
          <a:ln/>
        </p:spPr>
        <p:txBody>
          <a:bodyPr wrap="square" lIns="0" tIns="0" rIns="0" bIns="0" rtlCol="0" anchor="t"/>
          <a:lstStyle/>
          <a:p>
            <a:pPr>
              <a:lnSpc>
                <a:spcPts val="2500"/>
              </a:lnSpc>
            </a:pPr>
            <a:r>
              <a:rPr lang="en-IN" sz="1550" dirty="0">
                <a:latin typeface="Inter" panose="020B0604020202020204" charset="0"/>
                <a:ea typeface="Inter" panose="020B0604020202020204" charset="0"/>
              </a:rPr>
              <a:t>To improve model performance, we group infrequent classes into a single, robust </a:t>
            </a:r>
            <a:r>
              <a:rPr lang="en-IN" sz="1550" b="1" dirty="0">
                <a:latin typeface="Inter" panose="020B0604020202020204" charset="0"/>
                <a:ea typeface="Inter" panose="020B0604020202020204" charset="0"/>
              </a:rPr>
              <a:t>"Other"</a:t>
            </a:r>
            <a:r>
              <a:rPr lang="en-IN" sz="1550" dirty="0">
                <a:latin typeface="Inter" panose="020B0604020202020204" charset="0"/>
                <a:ea typeface="Inter" panose="020B0604020202020204" charset="0"/>
              </a:rPr>
              <a:t> category. This technique reduces data sparsity, as models struggle to learn from rare events, helping to prevent overfitting and improve generalization.</a:t>
            </a:r>
            <a:endParaRPr lang="en-US" sz="1550" dirty="0">
              <a:latin typeface="Inter" panose="020B0604020202020204" charset="0"/>
              <a:ea typeface="Inter" panose="020B0604020202020204" charset="0"/>
            </a:endParaRPr>
          </a:p>
        </p:txBody>
      </p:sp>
      <p:sp>
        <p:nvSpPr>
          <p:cNvPr id="7" name="Text 5"/>
          <p:cNvSpPr/>
          <p:nvPr/>
        </p:nvSpPr>
        <p:spPr>
          <a:xfrm>
            <a:off x="1015008" y="4857095"/>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Label Encoding</a:t>
            </a:r>
            <a:endParaRPr lang="en-US" sz="2050" dirty="0"/>
          </a:p>
        </p:txBody>
      </p:sp>
      <p:sp>
        <p:nvSpPr>
          <p:cNvPr id="8" name="Text 6"/>
          <p:cNvSpPr/>
          <p:nvPr/>
        </p:nvSpPr>
        <p:spPr>
          <a:xfrm>
            <a:off x="1015006" y="5255803"/>
            <a:ext cx="5979795" cy="1756709"/>
          </a:xfrm>
          <a:prstGeom prst="rect">
            <a:avLst/>
          </a:prstGeom>
          <a:noFill/>
          <a:ln/>
        </p:spPr>
        <p:txBody>
          <a:bodyPr wrap="square" lIns="0" tIns="0" rIns="0" bIns="0" rtlCol="0" anchor="t"/>
          <a:lstStyle/>
          <a:p>
            <a:pPr>
              <a:lnSpc>
                <a:spcPts val="2500"/>
              </a:lnSpc>
            </a:pPr>
            <a:r>
              <a:rPr lang="en-IN" sz="1550" dirty="0">
                <a:latin typeface="Inter" panose="020B0604020202020204" charset="0"/>
                <a:ea typeface="Inter" panose="020B0604020202020204" charset="0"/>
              </a:rPr>
              <a:t>We convert categorical job role text (e.g., "Software Engineer") into a numerical format using </a:t>
            </a:r>
            <a:r>
              <a:rPr lang="en-IN" sz="1550" b="1" dirty="0">
                <a:latin typeface="Inter" panose="020B0604020202020204" charset="0"/>
                <a:ea typeface="Inter" panose="020B0604020202020204" charset="0"/>
              </a:rPr>
              <a:t>label encoding</a:t>
            </a:r>
            <a:r>
              <a:rPr lang="en-IN" sz="1550" dirty="0">
                <a:latin typeface="Inter" panose="020B0604020202020204" charset="0"/>
                <a:ea typeface="Inter" panose="020B0604020202020204" charset="0"/>
              </a:rPr>
              <a:t>. Each unique job title is assigned a unique integer (0, 1, 2...). This is a crucial preprocessing step, as supervised classification models require numeric inputs to learn patterns.</a:t>
            </a:r>
            <a:endParaRPr lang="en-US" sz="1550" dirty="0">
              <a:latin typeface="Inter" panose="020B0604020202020204" charset="0"/>
              <a:ea typeface="Inter" panose="020B0604020202020204" charset="0"/>
            </a:endParaRPr>
          </a:p>
        </p:txBody>
      </p:sp>
      <p:pic>
        <p:nvPicPr>
          <p:cNvPr id="10" name="Picture 9">
            <a:extLst>
              <a:ext uri="{FF2B5EF4-FFF2-40B4-BE49-F238E27FC236}">
                <a16:creationId xmlns:a16="http://schemas.microsoft.com/office/drawing/2014/main" id="{BC7B46A1-6A08-04BA-4554-71011D9C5E99}"/>
              </a:ext>
            </a:extLst>
          </p:cNvPr>
          <p:cNvPicPr>
            <a:picLocks noChangeAspect="1"/>
          </p:cNvPicPr>
          <p:nvPr/>
        </p:nvPicPr>
        <p:blipFill>
          <a:blip r:embed="rId3"/>
          <a:stretch>
            <a:fillRect/>
          </a:stretch>
        </p:blipFill>
        <p:spPr>
          <a:xfrm>
            <a:off x="8626675" y="596842"/>
            <a:ext cx="5112771" cy="71862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90" y="3475196"/>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Model Building</a:t>
            </a:r>
            <a:endParaRPr lang="en-US" sz="4100" dirty="0"/>
          </a:p>
        </p:txBody>
      </p:sp>
      <p:pic>
        <p:nvPicPr>
          <p:cNvPr id="4" name="Image 1" descr="preencoded.png"/>
          <p:cNvPicPr>
            <a:picLocks noChangeAspect="1"/>
          </p:cNvPicPr>
          <p:nvPr/>
        </p:nvPicPr>
        <p:blipFill>
          <a:blip r:embed="rId4"/>
          <a:stretch>
            <a:fillRect/>
          </a:stretch>
        </p:blipFill>
        <p:spPr>
          <a:xfrm>
            <a:off x="793790" y="4424124"/>
            <a:ext cx="4347567" cy="793790"/>
          </a:xfrm>
          <a:prstGeom prst="rect">
            <a:avLst/>
          </a:prstGeom>
        </p:spPr>
      </p:pic>
      <p:sp>
        <p:nvSpPr>
          <p:cNvPr id="5" name="Text 1"/>
          <p:cNvSpPr/>
          <p:nvPr/>
        </p:nvSpPr>
        <p:spPr>
          <a:xfrm>
            <a:off x="992148" y="541627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RandomForest</a:t>
            </a:r>
            <a:endParaRPr lang="en-US" sz="2050" dirty="0"/>
          </a:p>
        </p:txBody>
      </p:sp>
      <p:sp>
        <p:nvSpPr>
          <p:cNvPr id="6" name="Text 2"/>
          <p:cNvSpPr/>
          <p:nvPr/>
        </p:nvSpPr>
        <p:spPr>
          <a:xfrm>
            <a:off x="992148" y="5860971"/>
            <a:ext cx="3950851" cy="1864537"/>
          </a:xfrm>
          <a:prstGeom prst="rect">
            <a:avLst/>
          </a:prstGeom>
          <a:noFill/>
          <a:ln/>
        </p:spPr>
        <p:txBody>
          <a:bodyPr wrap="square" lIns="0" tIns="0" rIns="0" bIns="0" rtlCol="0" anchor="t"/>
          <a:lstStyle/>
          <a:p>
            <a:pPr marL="0" indent="0" algn="l">
              <a:lnSpc>
                <a:spcPts val="2500"/>
              </a:lnSpc>
              <a:buNone/>
            </a:pPr>
            <a:r>
              <a:rPr lang="en-IN" sz="1550" dirty="0">
                <a:solidFill>
                  <a:srgbClr val="272525"/>
                </a:solidFill>
                <a:latin typeface="Inter" pitchFamily="34" charset="0"/>
                <a:ea typeface="Inter" pitchFamily="34" charset="-122"/>
                <a:cs typeface="Inter" pitchFamily="34" charset="-120"/>
              </a:rPr>
              <a:t>The </a:t>
            </a:r>
            <a:r>
              <a:rPr lang="en-IN" sz="1550" b="1" dirty="0">
                <a:solidFill>
                  <a:srgbClr val="272525"/>
                </a:solidFill>
                <a:latin typeface="Inter" pitchFamily="34" charset="0"/>
                <a:ea typeface="Inter" pitchFamily="34" charset="-122"/>
                <a:cs typeface="Inter" pitchFamily="34" charset="-120"/>
              </a:rPr>
              <a:t>class_weight</a:t>
            </a:r>
            <a:r>
              <a:rPr lang="en-IN" sz="1550" dirty="0">
                <a:solidFill>
                  <a:srgbClr val="272525"/>
                </a:solidFill>
                <a:latin typeface="Inter" pitchFamily="34" charset="0"/>
                <a:ea typeface="Inter" pitchFamily="34" charset="-122"/>
                <a:cs typeface="Inter" pitchFamily="34" charset="-120"/>
              </a:rPr>
              <a:t>='balanced' parameter in </a:t>
            </a:r>
            <a:r>
              <a:rPr lang="en-IN" sz="1550" b="1" dirty="0" err="1">
                <a:solidFill>
                  <a:srgbClr val="272525"/>
                </a:solidFill>
                <a:latin typeface="Inter" pitchFamily="34" charset="0"/>
                <a:ea typeface="Inter" pitchFamily="34" charset="-122"/>
                <a:cs typeface="Inter" pitchFamily="34" charset="-120"/>
              </a:rPr>
              <a:t>RandomForestClassifier</a:t>
            </a:r>
            <a:r>
              <a:rPr lang="en-IN" sz="1550" dirty="0">
                <a:solidFill>
                  <a:srgbClr val="272525"/>
                </a:solidFill>
                <a:latin typeface="Inter" pitchFamily="34" charset="0"/>
                <a:ea typeface="Inter" pitchFamily="34" charset="-122"/>
                <a:cs typeface="Inter" pitchFamily="34" charset="-120"/>
              </a:rPr>
              <a:t> automatically adjusts weights to give more importance to minority classes, combating imbalanced datasets.</a:t>
            </a:r>
            <a:endParaRPr lang="en-US" sz="1550" dirty="0"/>
          </a:p>
        </p:txBody>
      </p:sp>
      <p:pic>
        <p:nvPicPr>
          <p:cNvPr id="7" name="Image 2" descr="preencoded.png"/>
          <p:cNvPicPr>
            <a:picLocks noChangeAspect="1"/>
          </p:cNvPicPr>
          <p:nvPr/>
        </p:nvPicPr>
        <p:blipFill>
          <a:blip r:embed="rId5"/>
          <a:stretch>
            <a:fillRect/>
          </a:stretch>
        </p:blipFill>
        <p:spPr>
          <a:xfrm>
            <a:off x="5141357" y="4424124"/>
            <a:ext cx="4347567" cy="793790"/>
          </a:xfrm>
          <a:prstGeom prst="rect">
            <a:avLst/>
          </a:prstGeom>
        </p:spPr>
      </p:pic>
      <p:sp>
        <p:nvSpPr>
          <p:cNvPr id="8" name="Text 3"/>
          <p:cNvSpPr/>
          <p:nvPr/>
        </p:nvSpPr>
        <p:spPr>
          <a:xfrm>
            <a:off x="5339715" y="541627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SMOTE</a:t>
            </a:r>
            <a:endParaRPr lang="en-US" sz="2050" dirty="0"/>
          </a:p>
        </p:txBody>
      </p:sp>
      <p:sp>
        <p:nvSpPr>
          <p:cNvPr id="9" name="Text 4"/>
          <p:cNvSpPr/>
          <p:nvPr/>
        </p:nvSpPr>
        <p:spPr>
          <a:xfrm>
            <a:off x="5339715" y="5860971"/>
            <a:ext cx="3950851" cy="1864536"/>
          </a:xfrm>
          <a:prstGeom prst="rect">
            <a:avLst/>
          </a:prstGeom>
          <a:noFill/>
          <a:ln/>
        </p:spPr>
        <p:txBody>
          <a:bodyPr wrap="square" lIns="0" tIns="0" rIns="0" bIns="0" rtlCol="0" anchor="t"/>
          <a:lstStyle/>
          <a:p>
            <a:pPr marL="0" indent="0" algn="l">
              <a:lnSpc>
                <a:spcPts val="2500"/>
              </a:lnSpc>
              <a:buNone/>
            </a:pPr>
            <a:r>
              <a:rPr lang="en-IN" sz="1550" dirty="0">
                <a:solidFill>
                  <a:srgbClr val="272525"/>
                </a:solidFill>
                <a:latin typeface="Inter" pitchFamily="34" charset="0"/>
                <a:ea typeface="Inter" pitchFamily="34" charset="-122"/>
                <a:cs typeface="Inter" pitchFamily="34" charset="-120"/>
              </a:rPr>
              <a:t>SMOTE (Synthetic Minority Over-sampling Technique) creates new, synthetic data points for the minority class based on its nearest neighbours.</a:t>
            </a:r>
            <a:endParaRPr lang="en-US" sz="1550" dirty="0"/>
          </a:p>
        </p:txBody>
      </p:sp>
      <p:pic>
        <p:nvPicPr>
          <p:cNvPr id="10" name="Image 3" descr="preencoded.png"/>
          <p:cNvPicPr>
            <a:picLocks noChangeAspect="1"/>
          </p:cNvPicPr>
          <p:nvPr/>
        </p:nvPicPr>
        <p:blipFill>
          <a:blip r:embed="rId6"/>
          <a:stretch>
            <a:fillRect/>
          </a:stretch>
        </p:blipFill>
        <p:spPr>
          <a:xfrm>
            <a:off x="9488924" y="4424124"/>
            <a:ext cx="4347567" cy="793790"/>
          </a:xfrm>
          <a:prstGeom prst="rect">
            <a:avLst/>
          </a:prstGeom>
        </p:spPr>
      </p:pic>
      <p:sp>
        <p:nvSpPr>
          <p:cNvPr id="11" name="Text 5"/>
          <p:cNvSpPr/>
          <p:nvPr/>
        </p:nvSpPr>
        <p:spPr>
          <a:xfrm>
            <a:off x="9687282" y="5416272"/>
            <a:ext cx="2892147"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Hyperparameter Tuning</a:t>
            </a:r>
            <a:endParaRPr lang="en-US" sz="2050" dirty="0"/>
          </a:p>
        </p:txBody>
      </p:sp>
      <p:sp>
        <p:nvSpPr>
          <p:cNvPr id="12" name="Text 6"/>
          <p:cNvSpPr/>
          <p:nvPr/>
        </p:nvSpPr>
        <p:spPr>
          <a:xfrm>
            <a:off x="9687282" y="5860971"/>
            <a:ext cx="3950851" cy="1864537"/>
          </a:xfrm>
          <a:prstGeom prst="rect">
            <a:avLst/>
          </a:prstGeom>
          <a:noFill/>
          <a:ln/>
        </p:spPr>
        <p:txBody>
          <a:bodyPr wrap="square" lIns="0" tIns="0" rIns="0" bIns="0" rtlCol="0" anchor="t"/>
          <a:lstStyle/>
          <a:p>
            <a:pPr marL="0" indent="0" algn="l">
              <a:lnSpc>
                <a:spcPts val="2500"/>
              </a:lnSpc>
              <a:buNone/>
            </a:pPr>
            <a:r>
              <a:rPr lang="en-IN" sz="1550" dirty="0">
                <a:solidFill>
                  <a:srgbClr val="272525"/>
                </a:solidFill>
                <a:latin typeface="Inter" pitchFamily="34" charset="0"/>
                <a:ea typeface="Inter" pitchFamily="34" charset="-122"/>
                <a:cs typeface="Inter" pitchFamily="34" charset="-120"/>
              </a:rPr>
              <a:t>GridSearchCV is an optional process that exhaustively tests all specified hyperparameter combinations to find the one yielding the best model performance.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3416" y="456009"/>
            <a:ext cx="4353758" cy="544235"/>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Petrona Bold" pitchFamily="34" charset="0"/>
                <a:ea typeface="Petrona Bold" pitchFamily="34" charset="-122"/>
                <a:cs typeface="Petrona Bold" pitchFamily="34" charset="-120"/>
              </a:rPr>
              <a:t>Model Evaluation</a:t>
            </a:r>
            <a:endParaRPr lang="en-US" sz="3400" dirty="0"/>
          </a:p>
        </p:txBody>
      </p:sp>
      <p:sp>
        <p:nvSpPr>
          <p:cNvPr id="3" name="Text 1"/>
          <p:cNvSpPr/>
          <p:nvPr/>
        </p:nvSpPr>
        <p:spPr>
          <a:xfrm>
            <a:off x="663415" y="1414819"/>
            <a:ext cx="2525261" cy="544235"/>
          </a:xfrm>
          <a:prstGeom prst="rect">
            <a:avLst/>
          </a:prstGeom>
          <a:noFill/>
          <a:ln/>
        </p:spPr>
        <p:txBody>
          <a:bodyPr wrap="none" lIns="0" tIns="0" rIns="0" bIns="0" rtlCol="0" anchor="t"/>
          <a:lstStyle/>
          <a:p>
            <a:pPr marL="0" indent="0" algn="l">
              <a:lnSpc>
                <a:spcPts val="2100"/>
              </a:lnSpc>
              <a:buNone/>
            </a:pPr>
            <a:r>
              <a:rPr lang="en-US" sz="2500" b="1" dirty="0">
                <a:solidFill>
                  <a:srgbClr val="000000"/>
                </a:solidFill>
                <a:latin typeface="Petrona Bold" pitchFamily="34" charset="0"/>
                <a:ea typeface="Petrona Bold" pitchFamily="34" charset="-122"/>
                <a:cs typeface="Petrona Bold" pitchFamily="34" charset="-120"/>
              </a:rPr>
              <a:t>Performance Metrics</a:t>
            </a:r>
            <a:endParaRPr lang="en-US" sz="2500" dirty="0"/>
          </a:p>
        </p:txBody>
      </p:sp>
      <p:sp>
        <p:nvSpPr>
          <p:cNvPr id="4" name="Text 2"/>
          <p:cNvSpPr/>
          <p:nvPr/>
        </p:nvSpPr>
        <p:spPr>
          <a:xfrm>
            <a:off x="663416" y="2403716"/>
            <a:ext cx="6449497" cy="4630129"/>
          </a:xfrm>
          <a:prstGeom prst="rect">
            <a:avLst/>
          </a:prstGeom>
          <a:noFill/>
          <a:ln/>
        </p:spPr>
        <p:txBody>
          <a:bodyPr wrap="square" lIns="0" tIns="0" rIns="0" bIns="0" rtlCol="0" anchor="t"/>
          <a:lstStyle/>
          <a:p>
            <a:pPr>
              <a:lnSpc>
                <a:spcPts val="2050"/>
              </a:lnSpc>
            </a:pPr>
            <a:r>
              <a:rPr lang="en-US" sz="1550" dirty="0">
                <a:solidFill>
                  <a:srgbClr val="272525"/>
                </a:solidFill>
                <a:latin typeface="Inter" pitchFamily="34" charset="0"/>
                <a:ea typeface="Inter" pitchFamily="34" charset="-122"/>
                <a:cs typeface="Inter" pitchFamily="34" charset="-120"/>
              </a:rPr>
              <a:t>Metrics: </a:t>
            </a:r>
            <a:r>
              <a:rPr lang="en-US" sz="1550" b="1" dirty="0">
                <a:solidFill>
                  <a:srgbClr val="007EBD"/>
                </a:solidFill>
                <a:latin typeface="Inter" pitchFamily="34" charset="0"/>
                <a:ea typeface="Inter" pitchFamily="34" charset="-122"/>
                <a:cs typeface="Inter" pitchFamily="34" charset="-120"/>
              </a:rPr>
              <a:t>accuracy ~96%</a:t>
            </a:r>
            <a:r>
              <a:rPr lang="en-US" sz="1550" dirty="0">
                <a:solidFill>
                  <a:srgbClr val="272525"/>
                </a:solidFill>
                <a:latin typeface="Inter" pitchFamily="34" charset="0"/>
                <a:ea typeface="Inter" pitchFamily="34" charset="-122"/>
                <a:cs typeface="Inter" pitchFamily="34" charset="-120"/>
              </a:rPr>
              <a:t>, precision, recall, F1-score per class, </a:t>
            </a:r>
            <a:r>
              <a:rPr lang="en-IN" sz="1550" dirty="0">
                <a:latin typeface="Inter" panose="020B0604020202020204" charset="0"/>
                <a:ea typeface="Inter" panose="020B0604020202020204" charset="0"/>
              </a:rPr>
              <a:t>To assess performance more deeply, we analyse </a:t>
            </a:r>
            <a:r>
              <a:rPr lang="en-IN" sz="1550" b="1" dirty="0">
                <a:latin typeface="Inter" panose="020B0604020202020204" charset="0"/>
                <a:ea typeface="Inter" panose="020B0604020202020204" charset="0"/>
              </a:rPr>
              <a:t>precision</a:t>
            </a:r>
            <a:r>
              <a:rPr lang="en-IN" sz="1550" dirty="0">
                <a:latin typeface="Inter" panose="020B0604020202020204" charset="0"/>
                <a:ea typeface="Inter" panose="020B0604020202020204" charset="0"/>
              </a:rPr>
              <a:t>, </a:t>
            </a:r>
            <a:r>
              <a:rPr lang="en-IN" sz="1550" b="1" dirty="0">
                <a:latin typeface="Inter" panose="020B0604020202020204" charset="0"/>
                <a:ea typeface="Inter" panose="020B0604020202020204" charset="0"/>
              </a:rPr>
              <a:t>recall</a:t>
            </a:r>
            <a:r>
              <a:rPr lang="en-IN" sz="1550" dirty="0">
                <a:latin typeface="Inter" panose="020B0604020202020204" charset="0"/>
                <a:ea typeface="Inter" panose="020B0604020202020204" charset="0"/>
              </a:rPr>
              <a:t>, and the </a:t>
            </a:r>
            <a:r>
              <a:rPr lang="en-IN" sz="1550" b="1" dirty="0">
                <a:latin typeface="Inter" panose="020B0604020202020204" charset="0"/>
                <a:ea typeface="Inter" panose="020B0604020202020204" charset="0"/>
              </a:rPr>
              <a:t>F1-score</a:t>
            </a:r>
            <a:r>
              <a:rPr lang="en-IN" sz="1550" dirty="0">
                <a:latin typeface="Inter" panose="020B0604020202020204" charset="0"/>
                <a:ea typeface="Inter" panose="020B0604020202020204" charset="0"/>
              </a:rPr>
              <a:t> for each class. These metrics are crucial as they reveal how well the model handles each specific category, providing insights that a single accuracy score might obscure, especially with imbalanced data.</a:t>
            </a:r>
          </a:p>
          <a:p>
            <a:pPr>
              <a:lnSpc>
                <a:spcPts val="2050"/>
              </a:lnSpc>
            </a:pPr>
            <a:endParaRPr lang="en-IN" sz="1550" dirty="0">
              <a:latin typeface="Inter" panose="020B0604020202020204" charset="0"/>
              <a:ea typeface="Inter" panose="020B0604020202020204" charset="0"/>
            </a:endParaRPr>
          </a:p>
          <a:p>
            <a:pPr>
              <a:lnSpc>
                <a:spcPts val="2050"/>
              </a:lnSpc>
            </a:pPr>
            <a:r>
              <a:rPr lang="en-IN" sz="1550" dirty="0">
                <a:latin typeface="Inter" panose="020B0604020202020204" charset="0"/>
                <a:ea typeface="Inter" panose="020B0604020202020204" charset="0"/>
              </a:rPr>
              <a:t>For detailed error analysis, a confusion matrix heatmap is an indispensable tool that visually organizes the model's performance by plotting predicted labels against the true labels. The main diagonal represents all correct predictions, where the model's output matched the actual class.  Conversely, the off-diagonal cells quantify the errors, with the colour intensity immediately drawing attention to the most frequent misclassifications. This allows us to pinpoint exactly which classes are being confused, guiding targeted improvements to the model.</a:t>
            </a:r>
            <a:endParaRPr lang="en-US" sz="1550" dirty="0">
              <a:latin typeface="Inter" panose="020B0604020202020204" charset="0"/>
              <a:ea typeface="Inter" panose="020B0604020202020204" charset="0"/>
            </a:endParaRPr>
          </a:p>
        </p:txBody>
      </p:sp>
      <p:pic>
        <p:nvPicPr>
          <p:cNvPr id="6" name="Image 0" descr="preencoded.png"/>
          <p:cNvPicPr>
            <a:picLocks noChangeAspect="1"/>
          </p:cNvPicPr>
          <p:nvPr/>
        </p:nvPicPr>
        <p:blipFill>
          <a:blip r:embed="rId3"/>
          <a:stretch>
            <a:fillRect/>
          </a:stretch>
        </p:blipFill>
        <p:spPr>
          <a:xfrm>
            <a:off x="7669486" y="728126"/>
            <a:ext cx="6449497" cy="66456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90" y="3467695"/>
            <a:ext cx="6043493"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Deployment Architecture</a:t>
            </a:r>
            <a:endParaRPr lang="en-US" sz="4100" dirty="0"/>
          </a:p>
        </p:txBody>
      </p:sp>
      <p:sp>
        <p:nvSpPr>
          <p:cNvPr id="4" name="Shape 1"/>
          <p:cNvSpPr/>
          <p:nvPr/>
        </p:nvSpPr>
        <p:spPr>
          <a:xfrm>
            <a:off x="793790" y="4416623"/>
            <a:ext cx="4215289" cy="2285405"/>
          </a:xfrm>
          <a:prstGeom prst="roundRect">
            <a:avLst>
              <a:gd name="adj" fmla="val 3647"/>
            </a:avLst>
          </a:prstGeom>
          <a:solidFill>
            <a:srgbClr val="CCEEFF"/>
          </a:solidFill>
          <a:ln w="7620">
            <a:solidFill>
              <a:srgbClr val="B2D4E5"/>
            </a:solidFill>
            <a:prstDash val="solid"/>
          </a:ln>
        </p:spPr>
        <p:txBody>
          <a:bodyPr/>
          <a:lstStyle/>
          <a:p>
            <a:endParaRPr lang="en-US"/>
          </a:p>
        </p:txBody>
      </p:sp>
      <p:sp>
        <p:nvSpPr>
          <p:cNvPr id="5" name="Shape 2"/>
          <p:cNvSpPr/>
          <p:nvPr/>
        </p:nvSpPr>
        <p:spPr>
          <a:xfrm>
            <a:off x="999768" y="4622602"/>
            <a:ext cx="595313" cy="595313"/>
          </a:xfrm>
          <a:prstGeom prst="roundRect">
            <a:avLst>
              <a:gd name="adj" fmla="val 15358451"/>
            </a:avLst>
          </a:prstGeom>
          <a:solidFill>
            <a:srgbClr val="007EBD"/>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1163479" y="4752737"/>
            <a:ext cx="267891" cy="334923"/>
          </a:xfrm>
          <a:prstGeom prst="rect">
            <a:avLst/>
          </a:prstGeom>
        </p:spPr>
      </p:pic>
      <p:sp>
        <p:nvSpPr>
          <p:cNvPr id="7" name="Text 3"/>
          <p:cNvSpPr/>
          <p:nvPr/>
        </p:nvSpPr>
        <p:spPr>
          <a:xfrm>
            <a:off x="999768" y="541627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Flask Application</a:t>
            </a:r>
            <a:endParaRPr lang="en-US" sz="2050" dirty="0"/>
          </a:p>
        </p:txBody>
      </p:sp>
      <p:sp>
        <p:nvSpPr>
          <p:cNvPr id="8" name="Text 4"/>
          <p:cNvSpPr/>
          <p:nvPr/>
        </p:nvSpPr>
        <p:spPr>
          <a:xfrm>
            <a:off x="999768" y="5860971"/>
            <a:ext cx="380333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Flask application exposing REST API</a:t>
            </a:r>
            <a:endParaRPr lang="en-US" sz="1550" dirty="0"/>
          </a:p>
        </p:txBody>
      </p:sp>
      <p:sp>
        <p:nvSpPr>
          <p:cNvPr id="9" name="Shape 5"/>
          <p:cNvSpPr/>
          <p:nvPr/>
        </p:nvSpPr>
        <p:spPr>
          <a:xfrm>
            <a:off x="5207437" y="4416623"/>
            <a:ext cx="4215408" cy="2285405"/>
          </a:xfrm>
          <a:prstGeom prst="roundRect">
            <a:avLst>
              <a:gd name="adj" fmla="val 3647"/>
            </a:avLst>
          </a:prstGeom>
          <a:solidFill>
            <a:srgbClr val="CCEEFF"/>
          </a:solidFill>
          <a:ln w="7620">
            <a:solidFill>
              <a:srgbClr val="B2D4E5"/>
            </a:solidFill>
            <a:prstDash val="solid"/>
          </a:ln>
        </p:spPr>
        <p:txBody>
          <a:bodyPr/>
          <a:lstStyle/>
          <a:p>
            <a:endParaRPr lang="en-US"/>
          </a:p>
        </p:txBody>
      </p:sp>
      <p:sp>
        <p:nvSpPr>
          <p:cNvPr id="10" name="Shape 6"/>
          <p:cNvSpPr/>
          <p:nvPr/>
        </p:nvSpPr>
        <p:spPr>
          <a:xfrm>
            <a:off x="5413415" y="4622602"/>
            <a:ext cx="595313" cy="595313"/>
          </a:xfrm>
          <a:prstGeom prst="roundRect">
            <a:avLst>
              <a:gd name="adj" fmla="val 15358451"/>
            </a:avLst>
          </a:prstGeom>
          <a:solidFill>
            <a:srgbClr val="007EBD"/>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5577126" y="4752737"/>
            <a:ext cx="267891" cy="334923"/>
          </a:xfrm>
          <a:prstGeom prst="rect">
            <a:avLst/>
          </a:prstGeom>
        </p:spPr>
      </p:pic>
      <p:sp>
        <p:nvSpPr>
          <p:cNvPr id="12" name="Text 7"/>
          <p:cNvSpPr/>
          <p:nvPr/>
        </p:nvSpPr>
        <p:spPr>
          <a:xfrm>
            <a:off x="5413415" y="541627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POST Endpoint</a:t>
            </a:r>
            <a:endParaRPr lang="en-US" sz="2050" dirty="0"/>
          </a:p>
        </p:txBody>
      </p:sp>
      <p:sp>
        <p:nvSpPr>
          <p:cNvPr id="13" name="Text 8"/>
          <p:cNvSpPr/>
          <p:nvPr/>
        </p:nvSpPr>
        <p:spPr>
          <a:xfrm>
            <a:off x="5413415" y="5860971"/>
            <a:ext cx="3803452"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POST /predict: input JSON (skills, experience, salary, target_role)</a:t>
            </a:r>
            <a:endParaRPr lang="en-US" sz="1550" dirty="0"/>
          </a:p>
        </p:txBody>
      </p:sp>
      <p:sp>
        <p:nvSpPr>
          <p:cNvPr id="14" name="Shape 9"/>
          <p:cNvSpPr/>
          <p:nvPr/>
        </p:nvSpPr>
        <p:spPr>
          <a:xfrm>
            <a:off x="9621203" y="4416623"/>
            <a:ext cx="4215289" cy="2285405"/>
          </a:xfrm>
          <a:prstGeom prst="roundRect">
            <a:avLst>
              <a:gd name="adj" fmla="val 3647"/>
            </a:avLst>
          </a:prstGeom>
          <a:solidFill>
            <a:srgbClr val="CCEEFF"/>
          </a:solidFill>
          <a:ln w="7620">
            <a:solidFill>
              <a:srgbClr val="B2D4E5"/>
            </a:solidFill>
            <a:prstDash val="solid"/>
          </a:ln>
        </p:spPr>
        <p:txBody>
          <a:bodyPr/>
          <a:lstStyle/>
          <a:p>
            <a:endParaRPr lang="en-US"/>
          </a:p>
        </p:txBody>
      </p:sp>
      <p:sp>
        <p:nvSpPr>
          <p:cNvPr id="15" name="Shape 10"/>
          <p:cNvSpPr/>
          <p:nvPr/>
        </p:nvSpPr>
        <p:spPr>
          <a:xfrm>
            <a:off x="9827181" y="4622602"/>
            <a:ext cx="595313" cy="595313"/>
          </a:xfrm>
          <a:prstGeom prst="roundRect">
            <a:avLst>
              <a:gd name="adj" fmla="val 15358451"/>
            </a:avLst>
          </a:prstGeom>
          <a:solidFill>
            <a:srgbClr val="007EBD"/>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9990892" y="4752737"/>
            <a:ext cx="267891" cy="334923"/>
          </a:xfrm>
          <a:prstGeom prst="rect">
            <a:avLst/>
          </a:prstGeom>
        </p:spPr>
      </p:pic>
      <p:sp>
        <p:nvSpPr>
          <p:cNvPr id="17" name="Text 11"/>
          <p:cNvSpPr/>
          <p:nvPr/>
        </p:nvSpPr>
        <p:spPr>
          <a:xfrm>
            <a:off x="9827181" y="541627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API Response</a:t>
            </a:r>
            <a:endParaRPr lang="en-US" sz="2050" dirty="0"/>
          </a:p>
        </p:txBody>
      </p:sp>
      <p:sp>
        <p:nvSpPr>
          <p:cNvPr id="18" name="Text 12"/>
          <p:cNvSpPr/>
          <p:nvPr/>
        </p:nvSpPr>
        <p:spPr>
          <a:xfrm>
            <a:off x="9827181" y="5860971"/>
            <a:ext cx="3803333"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Response: predicted job role and screening decision</a:t>
            </a:r>
            <a:endParaRPr lang="en-US" sz="1550" dirty="0"/>
          </a:p>
        </p:txBody>
      </p:sp>
      <p:sp>
        <p:nvSpPr>
          <p:cNvPr id="19" name="Text 13"/>
          <p:cNvSpPr/>
          <p:nvPr/>
        </p:nvSpPr>
        <p:spPr>
          <a:xfrm>
            <a:off x="793790" y="692527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Visual: Simple API infrastructure diagram</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94880"/>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API Input/Output</a:t>
            </a:r>
            <a:endParaRPr lang="en-US" sz="4100" dirty="0"/>
          </a:p>
        </p:txBody>
      </p:sp>
      <p:sp>
        <p:nvSpPr>
          <p:cNvPr id="3" name="Text 1"/>
          <p:cNvSpPr/>
          <p:nvPr/>
        </p:nvSpPr>
        <p:spPr>
          <a:xfrm>
            <a:off x="793790" y="3042166"/>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Input JSON Example</a:t>
            </a:r>
            <a:endParaRPr lang="en-US" sz="2050" dirty="0"/>
          </a:p>
        </p:txBody>
      </p:sp>
      <p:sp>
        <p:nvSpPr>
          <p:cNvPr id="4" name="Shape 2"/>
          <p:cNvSpPr/>
          <p:nvPr/>
        </p:nvSpPr>
        <p:spPr>
          <a:xfrm>
            <a:off x="793790" y="3591044"/>
            <a:ext cx="6279356" cy="2520434"/>
          </a:xfrm>
          <a:prstGeom prst="roundRect">
            <a:avLst>
              <a:gd name="adj" fmla="val 3307"/>
            </a:avLst>
          </a:prstGeom>
          <a:solidFill>
            <a:srgbClr val="F2F2F2"/>
          </a:solidFill>
          <a:ln/>
        </p:spPr>
        <p:txBody>
          <a:bodyPr/>
          <a:lstStyle/>
          <a:p>
            <a:endParaRPr lang="en-US"/>
          </a:p>
        </p:txBody>
      </p:sp>
      <p:sp>
        <p:nvSpPr>
          <p:cNvPr id="5" name="Shape 3"/>
          <p:cNvSpPr/>
          <p:nvPr/>
        </p:nvSpPr>
        <p:spPr>
          <a:xfrm>
            <a:off x="783908" y="3591044"/>
            <a:ext cx="6299121" cy="2520434"/>
          </a:xfrm>
          <a:prstGeom prst="roundRect">
            <a:avLst>
              <a:gd name="adj" fmla="val 1181"/>
            </a:avLst>
          </a:prstGeom>
          <a:solidFill>
            <a:srgbClr val="F2F2F2"/>
          </a:solidFill>
          <a:ln/>
        </p:spPr>
        <p:txBody>
          <a:bodyPr/>
          <a:lstStyle/>
          <a:p>
            <a:endParaRPr lang="en-US"/>
          </a:p>
        </p:txBody>
      </p:sp>
      <p:sp>
        <p:nvSpPr>
          <p:cNvPr id="6" name="Text 4"/>
          <p:cNvSpPr/>
          <p:nvPr/>
        </p:nvSpPr>
        <p:spPr>
          <a:xfrm>
            <a:off x="982266" y="3739872"/>
            <a:ext cx="5902404" cy="222277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highlight>
                  <a:srgbClr val="F2F2F2"/>
                </a:highlight>
                <a:latin typeface="Consolas" pitchFamily="34" charset="0"/>
                <a:ea typeface="Consolas" pitchFamily="34" charset="-122"/>
                <a:cs typeface="Consolas" pitchFamily="34" charset="-120"/>
              </a:rPr>
              <a:t>{  "skills": "python, sql, machine learning",  "min_exp": 2,  "max_exp": 5,  "salary": 50000,  "target_role": "Data Analyst"}</a:t>
            </a:r>
            <a:endParaRPr lang="en-US" sz="1550" dirty="0"/>
          </a:p>
        </p:txBody>
      </p:sp>
      <p:sp>
        <p:nvSpPr>
          <p:cNvPr id="7" name="Text 5"/>
          <p:cNvSpPr/>
          <p:nvPr/>
        </p:nvSpPr>
        <p:spPr>
          <a:xfrm>
            <a:off x="7564874" y="3042166"/>
            <a:ext cx="2621161"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Output JSON Example</a:t>
            </a:r>
            <a:endParaRPr lang="en-US" sz="2050" dirty="0"/>
          </a:p>
        </p:txBody>
      </p:sp>
      <p:sp>
        <p:nvSpPr>
          <p:cNvPr id="8" name="Shape 6"/>
          <p:cNvSpPr/>
          <p:nvPr/>
        </p:nvSpPr>
        <p:spPr>
          <a:xfrm>
            <a:off x="7564874" y="3591044"/>
            <a:ext cx="6279356" cy="1567815"/>
          </a:xfrm>
          <a:prstGeom prst="roundRect">
            <a:avLst>
              <a:gd name="adj" fmla="val 5317"/>
            </a:avLst>
          </a:prstGeom>
          <a:solidFill>
            <a:srgbClr val="F2F2F2"/>
          </a:solidFill>
          <a:ln/>
        </p:spPr>
        <p:txBody>
          <a:bodyPr/>
          <a:lstStyle/>
          <a:p>
            <a:endParaRPr lang="en-US"/>
          </a:p>
        </p:txBody>
      </p:sp>
      <p:sp>
        <p:nvSpPr>
          <p:cNvPr id="9" name="Shape 7"/>
          <p:cNvSpPr/>
          <p:nvPr/>
        </p:nvSpPr>
        <p:spPr>
          <a:xfrm>
            <a:off x="7554992" y="3591044"/>
            <a:ext cx="6299121" cy="1567815"/>
          </a:xfrm>
          <a:prstGeom prst="roundRect">
            <a:avLst>
              <a:gd name="adj" fmla="val 1899"/>
            </a:avLst>
          </a:prstGeom>
          <a:solidFill>
            <a:srgbClr val="F2F2F2"/>
          </a:solidFill>
          <a:ln/>
        </p:spPr>
        <p:txBody>
          <a:bodyPr/>
          <a:lstStyle/>
          <a:p>
            <a:endParaRPr lang="en-US"/>
          </a:p>
        </p:txBody>
      </p:sp>
      <p:sp>
        <p:nvSpPr>
          <p:cNvPr id="10" name="Text 8"/>
          <p:cNvSpPr/>
          <p:nvPr/>
        </p:nvSpPr>
        <p:spPr>
          <a:xfrm>
            <a:off x="7753350" y="3739872"/>
            <a:ext cx="5902404"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highlight>
                  <a:srgbClr val="F2F2F2"/>
                </a:highlight>
                <a:latin typeface="Consolas" pitchFamily="34" charset="0"/>
                <a:ea typeface="Consolas" pitchFamily="34" charset="-122"/>
                <a:cs typeface="Consolas" pitchFamily="34" charset="-120"/>
              </a:rPr>
              <a:t>{ "predicted_role": "Data Analyst", "screened_in": true}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3A8A0E-40C5-6038-2989-00889EEC5D78}"/>
              </a:ext>
            </a:extLst>
          </p:cNvPr>
          <p:cNvSpPr txBox="1"/>
          <p:nvPr/>
        </p:nvSpPr>
        <p:spPr>
          <a:xfrm>
            <a:off x="375138" y="50485"/>
            <a:ext cx="13774616" cy="723275"/>
          </a:xfrm>
          <a:prstGeom prst="rect">
            <a:avLst/>
          </a:prstGeom>
          <a:noFill/>
        </p:spPr>
        <p:txBody>
          <a:bodyPr wrap="square" rtlCol="0">
            <a:spAutoFit/>
          </a:bodyPr>
          <a:lstStyle/>
          <a:p>
            <a:pPr algn="ctr"/>
            <a:r>
              <a:rPr lang="en-US" sz="4100" b="1" dirty="0">
                <a:latin typeface="Petrona Bold"/>
              </a:rPr>
              <a:t>Application Interface</a:t>
            </a:r>
          </a:p>
        </p:txBody>
      </p:sp>
      <p:pic>
        <p:nvPicPr>
          <p:cNvPr id="5" name="Picture 4">
            <a:extLst>
              <a:ext uri="{FF2B5EF4-FFF2-40B4-BE49-F238E27FC236}">
                <a16:creationId xmlns:a16="http://schemas.microsoft.com/office/drawing/2014/main" id="{30A1D190-B043-B69C-A4CC-1F09D487D08F}"/>
              </a:ext>
            </a:extLst>
          </p:cNvPr>
          <p:cNvPicPr>
            <a:picLocks noChangeAspect="1"/>
          </p:cNvPicPr>
          <p:nvPr/>
        </p:nvPicPr>
        <p:blipFill>
          <a:blip r:embed="rId2"/>
          <a:stretch>
            <a:fillRect/>
          </a:stretch>
        </p:blipFill>
        <p:spPr>
          <a:xfrm>
            <a:off x="1212150" y="842283"/>
            <a:ext cx="12206097" cy="5683505"/>
          </a:xfrm>
          <a:prstGeom prst="rect">
            <a:avLst/>
          </a:prstGeom>
        </p:spPr>
      </p:pic>
      <p:pic>
        <p:nvPicPr>
          <p:cNvPr id="7" name="Picture 6">
            <a:extLst>
              <a:ext uri="{FF2B5EF4-FFF2-40B4-BE49-F238E27FC236}">
                <a16:creationId xmlns:a16="http://schemas.microsoft.com/office/drawing/2014/main" id="{79856A8A-4142-2AA8-0CE2-59E8AC210CBB}"/>
              </a:ext>
            </a:extLst>
          </p:cNvPr>
          <p:cNvPicPr>
            <a:picLocks noChangeAspect="1"/>
          </p:cNvPicPr>
          <p:nvPr/>
        </p:nvPicPr>
        <p:blipFill>
          <a:blip r:embed="rId3"/>
          <a:stretch>
            <a:fillRect/>
          </a:stretch>
        </p:blipFill>
        <p:spPr>
          <a:xfrm>
            <a:off x="1212151" y="6525788"/>
            <a:ext cx="12206097" cy="930052"/>
          </a:xfrm>
          <a:prstGeom prst="rect">
            <a:avLst/>
          </a:prstGeom>
        </p:spPr>
      </p:pic>
      <p:sp>
        <p:nvSpPr>
          <p:cNvPr id="9" name="TextBox 8">
            <a:extLst>
              <a:ext uri="{FF2B5EF4-FFF2-40B4-BE49-F238E27FC236}">
                <a16:creationId xmlns:a16="http://schemas.microsoft.com/office/drawing/2014/main" id="{963F343A-101C-F81F-96F9-1F048A6213EF}"/>
              </a:ext>
            </a:extLst>
          </p:cNvPr>
          <p:cNvSpPr txBox="1"/>
          <p:nvPr/>
        </p:nvSpPr>
        <p:spPr>
          <a:xfrm>
            <a:off x="1312984" y="7549662"/>
            <a:ext cx="12590585" cy="330860"/>
          </a:xfrm>
          <a:prstGeom prst="rect">
            <a:avLst/>
          </a:prstGeom>
          <a:noFill/>
        </p:spPr>
        <p:txBody>
          <a:bodyPr wrap="square" rtlCol="0">
            <a:spAutoFit/>
          </a:bodyPr>
          <a:lstStyle/>
          <a:p>
            <a:r>
              <a:rPr lang="en-US" sz="1550" dirty="0">
                <a:latin typeface="Inter" panose="020B0604020202020204" charset="0"/>
                <a:ea typeface="Inter" panose="020B0604020202020204" charset="0"/>
              </a:rPr>
              <a:t>In the Above Snip, we manually uploaded a Resume and basis on that Resume, our model predicted the role as </a:t>
            </a:r>
            <a:r>
              <a:rPr lang="en-US" sz="1550" b="1" dirty="0">
                <a:latin typeface="Inter" panose="020B0604020202020204" charset="0"/>
                <a:ea typeface="Inter" panose="020B0604020202020204" charset="0"/>
              </a:rPr>
              <a:t>Project Manager</a:t>
            </a:r>
          </a:p>
        </p:txBody>
      </p:sp>
    </p:spTree>
    <p:extLst>
      <p:ext uri="{BB962C8B-B14F-4D97-AF65-F5344CB8AC3E}">
        <p14:creationId xmlns:p14="http://schemas.microsoft.com/office/powerpoint/2010/main" val="42700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89" y="730403"/>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Screening Logic</a:t>
            </a:r>
            <a:endParaRPr lang="en-US" sz="4100" dirty="0"/>
          </a:p>
        </p:txBody>
      </p:sp>
      <p:sp>
        <p:nvSpPr>
          <p:cNvPr id="3" name="Text 1"/>
          <p:cNvSpPr/>
          <p:nvPr/>
        </p:nvSpPr>
        <p:spPr>
          <a:xfrm>
            <a:off x="793790" y="154104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4" name="Shape 2"/>
          <p:cNvSpPr/>
          <p:nvPr/>
        </p:nvSpPr>
        <p:spPr>
          <a:xfrm>
            <a:off x="793789" y="1954539"/>
            <a:ext cx="4215289" cy="22860"/>
          </a:xfrm>
          <a:prstGeom prst="rect">
            <a:avLst/>
          </a:prstGeom>
          <a:solidFill>
            <a:srgbClr val="007EBD"/>
          </a:solidFill>
          <a:ln/>
        </p:spPr>
        <p:txBody>
          <a:bodyPr/>
          <a:lstStyle/>
          <a:p>
            <a:endParaRPr lang="en-US"/>
          </a:p>
        </p:txBody>
      </p:sp>
      <p:sp>
        <p:nvSpPr>
          <p:cNvPr id="5" name="Text 3"/>
          <p:cNvSpPr/>
          <p:nvPr/>
        </p:nvSpPr>
        <p:spPr>
          <a:xfrm>
            <a:off x="793789" y="2058347"/>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Role Comparison</a:t>
            </a:r>
            <a:endParaRPr lang="en-US" sz="2050" dirty="0"/>
          </a:p>
        </p:txBody>
      </p:sp>
      <p:sp>
        <p:nvSpPr>
          <p:cNvPr id="6" name="Text 4"/>
          <p:cNvSpPr/>
          <p:nvPr/>
        </p:nvSpPr>
        <p:spPr>
          <a:xfrm>
            <a:off x="793788" y="2670709"/>
            <a:ext cx="4215289" cy="4243678"/>
          </a:xfrm>
          <a:prstGeom prst="rect">
            <a:avLst/>
          </a:prstGeom>
          <a:noFill/>
          <a:ln/>
        </p:spPr>
        <p:txBody>
          <a:bodyPr wrap="square" lIns="0" tIns="0" rIns="0" bIns="0" rtlCol="0" anchor="t"/>
          <a:lstStyle/>
          <a:p>
            <a:pPr>
              <a:lnSpc>
                <a:spcPts val="2500"/>
              </a:lnSpc>
            </a:pPr>
            <a:r>
              <a:rPr lang="en-IN" sz="1550" dirty="0">
                <a:latin typeface="Inter" panose="020B0604020202020204" charset="0"/>
                <a:ea typeface="Inter" panose="020B0604020202020204" charset="0"/>
              </a:rPr>
              <a:t>To rigorously evaluate model performance, we conduct a one-to-one comparison of the predicted role against the actual target role (the ground truth) for every data instance. This fundamental check classifies each prediction as correct or incorrect. These individual outcomes are the raw material of evaluation, which we then aggregate. From this aggregation, we derive critical performance metrics like overall accuracy, as well as class-specific measures such as precision and recall, and visually represent them in a confusion matrix.</a:t>
            </a:r>
            <a:endParaRPr lang="en-US" sz="1550" dirty="0">
              <a:latin typeface="Inter" panose="020B0604020202020204" charset="0"/>
              <a:ea typeface="Inter" panose="020B0604020202020204" charset="0"/>
            </a:endParaRPr>
          </a:p>
        </p:txBody>
      </p:sp>
      <p:sp>
        <p:nvSpPr>
          <p:cNvPr id="7" name="Text 5"/>
          <p:cNvSpPr/>
          <p:nvPr/>
        </p:nvSpPr>
        <p:spPr>
          <a:xfrm>
            <a:off x="5127766" y="154104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8" name="Shape 6"/>
          <p:cNvSpPr/>
          <p:nvPr/>
        </p:nvSpPr>
        <p:spPr>
          <a:xfrm>
            <a:off x="5127766" y="1954539"/>
            <a:ext cx="4215408" cy="22860"/>
          </a:xfrm>
          <a:prstGeom prst="rect">
            <a:avLst/>
          </a:prstGeom>
          <a:solidFill>
            <a:srgbClr val="007EBD"/>
          </a:solidFill>
          <a:ln/>
        </p:spPr>
        <p:txBody>
          <a:bodyPr/>
          <a:lstStyle/>
          <a:p>
            <a:endParaRPr lang="en-US"/>
          </a:p>
        </p:txBody>
      </p:sp>
      <p:sp>
        <p:nvSpPr>
          <p:cNvPr id="9" name="Text 7"/>
          <p:cNvSpPr/>
          <p:nvPr/>
        </p:nvSpPr>
        <p:spPr>
          <a:xfrm>
            <a:off x="5127766" y="2045250"/>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Boolean Response</a:t>
            </a:r>
            <a:endParaRPr lang="en-US" sz="2050" dirty="0"/>
          </a:p>
        </p:txBody>
      </p:sp>
      <p:sp>
        <p:nvSpPr>
          <p:cNvPr id="10" name="Text 8"/>
          <p:cNvSpPr/>
          <p:nvPr/>
        </p:nvSpPr>
        <p:spPr>
          <a:xfrm>
            <a:off x="5127766" y="2670709"/>
            <a:ext cx="4215408" cy="3604352"/>
          </a:xfrm>
          <a:prstGeom prst="rect">
            <a:avLst/>
          </a:prstGeom>
          <a:noFill/>
          <a:ln/>
        </p:spPr>
        <p:txBody>
          <a:bodyPr wrap="square" lIns="0" tIns="0" rIns="0" bIns="0" rtlCol="0" anchor="t"/>
          <a:lstStyle/>
          <a:p>
            <a:pPr>
              <a:lnSpc>
                <a:spcPts val="2500"/>
              </a:lnSpc>
            </a:pPr>
            <a:r>
              <a:rPr lang="en-IN" sz="1550" dirty="0">
                <a:latin typeface="Inter" panose="020B0604020202020204" charset="0"/>
                <a:ea typeface="Inter" panose="020B0604020202020204" charset="0"/>
              </a:rPr>
              <a:t>This function returns a Boolean value assigned to screened in to represent the outcome of a qualification check. It returns true if the input data successfully meets all the predefined matching criteria, indicating a successful "match." Conversely, it returns false if the criteria are not met. This simple true/false output efficiently signals whether an item should be included for further processing or discarded.</a:t>
            </a:r>
            <a:endParaRPr lang="en-US" sz="1550" dirty="0">
              <a:latin typeface="Inter" panose="020B0604020202020204" charset="0"/>
              <a:ea typeface="Inter" panose="020B0604020202020204" charset="0"/>
            </a:endParaRPr>
          </a:p>
        </p:txBody>
      </p:sp>
      <p:sp>
        <p:nvSpPr>
          <p:cNvPr id="11" name="Text 9"/>
          <p:cNvSpPr/>
          <p:nvPr/>
        </p:nvSpPr>
        <p:spPr>
          <a:xfrm>
            <a:off x="9522024" y="154104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03</a:t>
            </a:r>
            <a:endParaRPr lang="en-US" sz="1550" dirty="0"/>
          </a:p>
        </p:txBody>
      </p:sp>
      <p:sp>
        <p:nvSpPr>
          <p:cNvPr id="12" name="Shape 10"/>
          <p:cNvSpPr/>
          <p:nvPr/>
        </p:nvSpPr>
        <p:spPr>
          <a:xfrm>
            <a:off x="9522024" y="1954539"/>
            <a:ext cx="4215289" cy="22860"/>
          </a:xfrm>
          <a:prstGeom prst="rect">
            <a:avLst/>
          </a:prstGeom>
          <a:solidFill>
            <a:srgbClr val="007EBD"/>
          </a:solidFill>
          <a:ln/>
        </p:spPr>
        <p:txBody>
          <a:bodyPr/>
          <a:lstStyle/>
          <a:p>
            <a:endParaRPr lang="en-US"/>
          </a:p>
        </p:txBody>
      </p:sp>
      <p:sp>
        <p:nvSpPr>
          <p:cNvPr id="13" name="Text 11"/>
          <p:cNvSpPr/>
          <p:nvPr/>
        </p:nvSpPr>
        <p:spPr>
          <a:xfrm>
            <a:off x="9522024" y="2068696"/>
            <a:ext cx="2811780"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Automated Shortlisting</a:t>
            </a:r>
            <a:endParaRPr lang="en-US" sz="2050" dirty="0"/>
          </a:p>
        </p:txBody>
      </p:sp>
      <p:sp>
        <p:nvSpPr>
          <p:cNvPr id="14" name="Text 12"/>
          <p:cNvSpPr/>
          <p:nvPr/>
        </p:nvSpPr>
        <p:spPr>
          <a:xfrm>
            <a:off x="9522023" y="2670708"/>
            <a:ext cx="4215289" cy="4243679"/>
          </a:xfrm>
          <a:prstGeom prst="rect">
            <a:avLst/>
          </a:prstGeom>
          <a:noFill/>
          <a:ln/>
        </p:spPr>
        <p:txBody>
          <a:bodyPr wrap="square" lIns="0" tIns="0" rIns="0" bIns="0" rtlCol="0" anchor="t"/>
          <a:lstStyle/>
          <a:p>
            <a:pPr>
              <a:lnSpc>
                <a:spcPts val="2500"/>
              </a:lnSpc>
            </a:pPr>
            <a:r>
              <a:rPr lang="en-IN" sz="1550" dirty="0">
                <a:latin typeface="Inter" panose="020B0604020202020204" charset="0"/>
                <a:ea typeface="Inter" panose="020B0604020202020204" charset="0"/>
              </a:rPr>
              <a:t>This system </a:t>
            </a:r>
            <a:r>
              <a:rPr lang="en-IN" sz="1550" b="1" dirty="0">
                <a:latin typeface="Inter" panose="020B0604020202020204" charset="0"/>
                <a:ea typeface="Inter" panose="020B0604020202020204" charset="0"/>
              </a:rPr>
              <a:t>enables automated résumé shortlisting</a:t>
            </a:r>
            <a:r>
              <a:rPr lang="en-IN" sz="1550" dirty="0">
                <a:latin typeface="Inter" panose="020B0604020202020204" charset="0"/>
                <a:ea typeface="Inter" panose="020B0604020202020204" charset="0"/>
              </a:rPr>
              <a:t>, a process that uses technology to streamline the initial hiring phase. Instead of manual screening, the software automatically parses and analyses résumés, comparing candidate qualifications like skills and experience against the specific requirements of the job description. This </a:t>
            </a:r>
            <a:r>
              <a:rPr lang="en-IN" sz="1550" b="1" dirty="0">
                <a:latin typeface="Inter" panose="020B0604020202020204" charset="0"/>
                <a:ea typeface="Inter" panose="020B0604020202020204" charset="0"/>
              </a:rPr>
              <a:t>automated shortlisting</a:t>
            </a:r>
            <a:r>
              <a:rPr lang="en-IN" sz="1550" dirty="0">
                <a:latin typeface="Inter" panose="020B0604020202020204" charset="0"/>
                <a:ea typeface="Inter" panose="020B0604020202020204" charset="0"/>
              </a:rPr>
              <a:t> process rapidly identifies and ranks the most promising applicants, presenting recruiters with a manageable list of top-tier candidates and saving significant time and manual effort.</a:t>
            </a:r>
            <a:endParaRPr lang="en-US" sz="1550" dirty="0">
              <a:latin typeface="Inter" panose="020B0604020202020204" charset="0"/>
              <a:ea typeface="Inter" panose="020B06040202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27121"/>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Libraries &amp; Tools</a:t>
            </a:r>
            <a:endParaRPr lang="en-US" sz="4100" dirty="0"/>
          </a:p>
        </p:txBody>
      </p:sp>
      <p:pic>
        <p:nvPicPr>
          <p:cNvPr id="3" name="Image 0" descr="preencoded.png"/>
          <p:cNvPicPr>
            <a:picLocks noChangeAspect="1"/>
          </p:cNvPicPr>
          <p:nvPr/>
        </p:nvPicPr>
        <p:blipFill>
          <a:blip r:embed="rId3"/>
          <a:stretch>
            <a:fillRect/>
          </a:stretch>
        </p:blipFill>
        <p:spPr>
          <a:xfrm>
            <a:off x="793790" y="2775228"/>
            <a:ext cx="496133" cy="496133"/>
          </a:xfrm>
          <a:prstGeom prst="rect">
            <a:avLst/>
          </a:prstGeom>
        </p:spPr>
      </p:pic>
      <p:sp>
        <p:nvSpPr>
          <p:cNvPr id="4" name="Text 1"/>
          <p:cNvSpPr/>
          <p:nvPr/>
        </p:nvSpPr>
        <p:spPr>
          <a:xfrm>
            <a:off x="793790" y="35193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Python Ecosystem</a:t>
            </a:r>
            <a:endParaRPr lang="en-US" sz="2050" dirty="0"/>
          </a:p>
        </p:txBody>
      </p:sp>
      <p:sp>
        <p:nvSpPr>
          <p:cNvPr id="5" name="Text 2"/>
          <p:cNvSpPr/>
          <p:nvPr/>
        </p:nvSpPr>
        <p:spPr>
          <a:xfrm>
            <a:off x="793790" y="3964067"/>
            <a:ext cx="418218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Python ecosystem: pandas, numpy, scikit-learn, imblearn, tensorflow</a:t>
            </a:r>
            <a:endParaRPr lang="en-US" sz="1550" dirty="0"/>
          </a:p>
        </p:txBody>
      </p:sp>
      <p:pic>
        <p:nvPicPr>
          <p:cNvPr id="6" name="Image 1" descr="preencoded.png"/>
          <p:cNvPicPr>
            <a:picLocks noChangeAspect="1"/>
          </p:cNvPicPr>
          <p:nvPr/>
        </p:nvPicPr>
        <p:blipFill>
          <a:blip r:embed="rId4"/>
          <a:stretch>
            <a:fillRect/>
          </a:stretch>
        </p:blipFill>
        <p:spPr>
          <a:xfrm>
            <a:off x="5223986" y="2775228"/>
            <a:ext cx="496133" cy="496133"/>
          </a:xfrm>
          <a:prstGeom prst="rect">
            <a:avLst/>
          </a:prstGeom>
        </p:spPr>
      </p:pic>
      <p:sp>
        <p:nvSpPr>
          <p:cNvPr id="7" name="Text 3"/>
          <p:cNvSpPr/>
          <p:nvPr/>
        </p:nvSpPr>
        <p:spPr>
          <a:xfrm>
            <a:off x="5223986" y="35193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NLP Processing</a:t>
            </a:r>
            <a:endParaRPr lang="en-US" sz="2050" dirty="0"/>
          </a:p>
        </p:txBody>
      </p:sp>
      <p:sp>
        <p:nvSpPr>
          <p:cNvPr id="8" name="Text 4"/>
          <p:cNvSpPr/>
          <p:nvPr/>
        </p:nvSpPr>
        <p:spPr>
          <a:xfrm>
            <a:off x="5223986" y="3964067"/>
            <a:ext cx="418230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NLP with transformers BERT embeddings</a:t>
            </a:r>
            <a:endParaRPr lang="en-US" sz="1550" dirty="0"/>
          </a:p>
        </p:txBody>
      </p:sp>
      <p:pic>
        <p:nvPicPr>
          <p:cNvPr id="9" name="Image 2" descr="preencoded.png"/>
          <p:cNvPicPr>
            <a:picLocks noChangeAspect="1"/>
          </p:cNvPicPr>
          <p:nvPr/>
        </p:nvPicPr>
        <p:blipFill>
          <a:blip r:embed="rId5"/>
          <a:stretch>
            <a:fillRect/>
          </a:stretch>
        </p:blipFill>
        <p:spPr>
          <a:xfrm>
            <a:off x="9654302" y="2775228"/>
            <a:ext cx="496133" cy="496133"/>
          </a:xfrm>
          <a:prstGeom prst="rect">
            <a:avLst/>
          </a:prstGeom>
        </p:spPr>
      </p:pic>
      <p:sp>
        <p:nvSpPr>
          <p:cNvPr id="10" name="Text 5"/>
          <p:cNvSpPr/>
          <p:nvPr/>
        </p:nvSpPr>
        <p:spPr>
          <a:xfrm>
            <a:off x="9654302" y="351936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API Backend</a:t>
            </a:r>
            <a:endParaRPr lang="en-US" sz="2050" dirty="0"/>
          </a:p>
        </p:txBody>
      </p:sp>
      <p:sp>
        <p:nvSpPr>
          <p:cNvPr id="11" name="Text 6"/>
          <p:cNvSpPr/>
          <p:nvPr/>
        </p:nvSpPr>
        <p:spPr>
          <a:xfrm>
            <a:off x="9654302" y="3964067"/>
            <a:ext cx="4182308" cy="317540"/>
          </a:xfrm>
          <a:prstGeom prst="rect">
            <a:avLst/>
          </a:prstGeom>
          <a:noFill/>
          <a:ln/>
        </p:spPr>
        <p:txBody>
          <a:bodyPr wrap="none" lIns="0" tIns="0" rIns="0" bIns="0" rtlCol="0" anchor="t"/>
          <a:lstStyle/>
          <a:p>
            <a:pPr marL="0" indent="0" algn="l">
              <a:lnSpc>
                <a:spcPts val="2500"/>
              </a:lnSpc>
              <a:buNone/>
            </a:pPr>
            <a:r>
              <a:rPr lang="en-US" sz="1550">
                <a:solidFill>
                  <a:srgbClr val="272525"/>
                </a:solidFill>
                <a:latin typeface="Inter" pitchFamily="34" charset="0"/>
                <a:ea typeface="Inter" pitchFamily="34" charset="-122"/>
                <a:cs typeface="Inter" pitchFamily="34" charset="-120"/>
              </a:rPr>
              <a:t>Streamlit </a:t>
            </a:r>
            <a:r>
              <a:rPr lang="en-US" sz="1550" dirty="0">
                <a:solidFill>
                  <a:srgbClr val="272525"/>
                </a:solidFill>
                <a:latin typeface="Inter" pitchFamily="34" charset="0"/>
                <a:ea typeface="Inter" pitchFamily="34" charset="-122"/>
                <a:cs typeface="Inter" pitchFamily="34" charset="-120"/>
              </a:rPr>
              <a:t>for REST API backend</a:t>
            </a:r>
            <a:endParaRPr lang="en-US" sz="1550" dirty="0"/>
          </a:p>
        </p:txBody>
      </p:sp>
      <p:pic>
        <p:nvPicPr>
          <p:cNvPr id="12" name="Image 3" descr="preencoded.png"/>
          <p:cNvPicPr>
            <a:picLocks noChangeAspect="1"/>
          </p:cNvPicPr>
          <p:nvPr/>
        </p:nvPicPr>
        <p:blipFill>
          <a:blip r:embed="rId6"/>
          <a:stretch>
            <a:fillRect/>
          </a:stretch>
        </p:blipFill>
        <p:spPr>
          <a:xfrm>
            <a:off x="793790" y="4995982"/>
            <a:ext cx="496133" cy="496133"/>
          </a:xfrm>
          <a:prstGeom prst="rect">
            <a:avLst/>
          </a:prstGeom>
        </p:spPr>
      </p:pic>
      <p:sp>
        <p:nvSpPr>
          <p:cNvPr id="13" name="Text 7"/>
          <p:cNvSpPr/>
          <p:nvPr/>
        </p:nvSpPr>
        <p:spPr>
          <a:xfrm>
            <a:off x="793790" y="574012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Model Persistence</a:t>
            </a:r>
            <a:endParaRPr lang="en-US" sz="2050" dirty="0"/>
          </a:p>
        </p:txBody>
      </p:sp>
      <p:sp>
        <p:nvSpPr>
          <p:cNvPr id="14" name="Text 8"/>
          <p:cNvSpPr/>
          <p:nvPr/>
        </p:nvSpPr>
        <p:spPr>
          <a:xfrm>
            <a:off x="793790" y="6184821"/>
            <a:ext cx="4182189"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Joblib for model persistence</a:t>
            </a:r>
            <a:endParaRPr lang="en-US" sz="1550" dirty="0"/>
          </a:p>
        </p:txBody>
      </p:sp>
      <p:pic>
        <p:nvPicPr>
          <p:cNvPr id="15" name="Image 4" descr="preencoded.png"/>
          <p:cNvPicPr>
            <a:picLocks noChangeAspect="1"/>
          </p:cNvPicPr>
          <p:nvPr/>
        </p:nvPicPr>
        <p:blipFill>
          <a:blip r:embed="rId7"/>
          <a:stretch>
            <a:fillRect/>
          </a:stretch>
        </p:blipFill>
        <p:spPr>
          <a:xfrm>
            <a:off x="5223986" y="4995982"/>
            <a:ext cx="496133" cy="496133"/>
          </a:xfrm>
          <a:prstGeom prst="rect">
            <a:avLst/>
          </a:prstGeom>
        </p:spPr>
      </p:pic>
      <p:sp>
        <p:nvSpPr>
          <p:cNvPr id="16" name="Text 9"/>
          <p:cNvSpPr/>
          <p:nvPr/>
        </p:nvSpPr>
        <p:spPr>
          <a:xfrm>
            <a:off x="5223986" y="574012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API Testing</a:t>
            </a:r>
            <a:endParaRPr lang="en-US" sz="2050" dirty="0"/>
          </a:p>
        </p:txBody>
      </p:sp>
      <p:sp>
        <p:nvSpPr>
          <p:cNvPr id="17" name="Text 10"/>
          <p:cNvSpPr/>
          <p:nvPr/>
        </p:nvSpPr>
        <p:spPr>
          <a:xfrm>
            <a:off x="5223986" y="6184821"/>
            <a:ext cx="418230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NGROK for Authentication Key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286833"/>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Platform Details</a:t>
            </a:r>
            <a:endParaRPr lang="en-US" sz="4100" dirty="0"/>
          </a:p>
        </p:txBody>
      </p:sp>
      <p:sp>
        <p:nvSpPr>
          <p:cNvPr id="3" name="Shape 1"/>
          <p:cNvSpPr/>
          <p:nvPr/>
        </p:nvSpPr>
        <p:spPr>
          <a:xfrm>
            <a:off x="793790" y="3334941"/>
            <a:ext cx="6422231" cy="1204674"/>
          </a:xfrm>
          <a:prstGeom prst="roundRect">
            <a:avLst>
              <a:gd name="adj" fmla="val 9109"/>
            </a:avLst>
          </a:prstGeom>
          <a:solidFill>
            <a:srgbClr val="FFFFFF">
              <a:alpha val="95000"/>
            </a:srgbClr>
          </a:solidFill>
          <a:ln w="22860">
            <a:solidFill>
              <a:srgbClr val="B2D4E5"/>
            </a:solidFill>
            <a:prstDash val="solid"/>
          </a:ln>
        </p:spPr>
        <p:txBody>
          <a:bodyPr/>
          <a:lstStyle/>
          <a:p>
            <a:endParaRPr lang="en-US"/>
          </a:p>
        </p:txBody>
      </p:sp>
      <p:sp>
        <p:nvSpPr>
          <p:cNvPr id="4" name="Shape 2"/>
          <p:cNvSpPr/>
          <p:nvPr/>
        </p:nvSpPr>
        <p:spPr>
          <a:xfrm>
            <a:off x="770930" y="3334941"/>
            <a:ext cx="91440" cy="1204674"/>
          </a:xfrm>
          <a:prstGeom prst="roundRect">
            <a:avLst>
              <a:gd name="adj" fmla="val 91163"/>
            </a:avLst>
          </a:prstGeom>
          <a:solidFill>
            <a:srgbClr val="007EBD"/>
          </a:solidFill>
          <a:ln/>
        </p:spPr>
        <p:txBody>
          <a:bodyPr/>
          <a:lstStyle/>
          <a:p>
            <a:endParaRPr lang="en-US"/>
          </a:p>
        </p:txBody>
      </p:sp>
      <p:sp>
        <p:nvSpPr>
          <p:cNvPr id="5" name="Text 3"/>
          <p:cNvSpPr/>
          <p:nvPr/>
        </p:nvSpPr>
        <p:spPr>
          <a:xfrm>
            <a:off x="1083588" y="3556159"/>
            <a:ext cx="3222069"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Development Environment</a:t>
            </a:r>
            <a:endParaRPr lang="en-US" sz="2050" dirty="0"/>
          </a:p>
        </p:txBody>
      </p:sp>
      <p:sp>
        <p:nvSpPr>
          <p:cNvPr id="6" name="Text 4"/>
          <p:cNvSpPr/>
          <p:nvPr/>
        </p:nvSpPr>
        <p:spPr>
          <a:xfrm>
            <a:off x="1083588" y="4000857"/>
            <a:ext cx="59112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Local Jupyter notebook for development &amp; training</a:t>
            </a:r>
            <a:endParaRPr lang="en-US" sz="1550" dirty="0"/>
          </a:p>
        </p:txBody>
      </p:sp>
      <p:sp>
        <p:nvSpPr>
          <p:cNvPr id="7" name="Shape 5"/>
          <p:cNvSpPr/>
          <p:nvPr/>
        </p:nvSpPr>
        <p:spPr>
          <a:xfrm>
            <a:off x="7414379" y="3334941"/>
            <a:ext cx="6422231" cy="1204674"/>
          </a:xfrm>
          <a:prstGeom prst="roundRect">
            <a:avLst>
              <a:gd name="adj" fmla="val 9109"/>
            </a:avLst>
          </a:prstGeom>
          <a:solidFill>
            <a:srgbClr val="FFFFFF">
              <a:alpha val="95000"/>
            </a:srgbClr>
          </a:solidFill>
          <a:ln w="22860">
            <a:solidFill>
              <a:srgbClr val="B2D4E5"/>
            </a:solidFill>
            <a:prstDash val="solid"/>
          </a:ln>
        </p:spPr>
        <p:txBody>
          <a:bodyPr/>
          <a:lstStyle/>
          <a:p>
            <a:endParaRPr lang="en-US"/>
          </a:p>
        </p:txBody>
      </p:sp>
      <p:sp>
        <p:nvSpPr>
          <p:cNvPr id="8" name="Shape 6"/>
          <p:cNvSpPr/>
          <p:nvPr/>
        </p:nvSpPr>
        <p:spPr>
          <a:xfrm>
            <a:off x="7391519" y="3334941"/>
            <a:ext cx="91440" cy="1204674"/>
          </a:xfrm>
          <a:prstGeom prst="roundRect">
            <a:avLst>
              <a:gd name="adj" fmla="val 91163"/>
            </a:avLst>
          </a:prstGeom>
          <a:solidFill>
            <a:srgbClr val="007EBD"/>
          </a:solidFill>
          <a:ln/>
        </p:spPr>
        <p:txBody>
          <a:bodyPr/>
          <a:lstStyle/>
          <a:p>
            <a:endParaRPr lang="en-US"/>
          </a:p>
        </p:txBody>
      </p:sp>
      <p:sp>
        <p:nvSpPr>
          <p:cNvPr id="9" name="Text 7"/>
          <p:cNvSpPr/>
          <p:nvPr/>
        </p:nvSpPr>
        <p:spPr>
          <a:xfrm>
            <a:off x="7704177" y="3556159"/>
            <a:ext cx="3086933"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Deployment Environment</a:t>
            </a:r>
            <a:endParaRPr lang="en-US" sz="2050" dirty="0"/>
          </a:p>
        </p:txBody>
      </p:sp>
      <p:sp>
        <p:nvSpPr>
          <p:cNvPr id="10" name="Text 8"/>
          <p:cNvSpPr/>
          <p:nvPr/>
        </p:nvSpPr>
        <p:spPr>
          <a:xfrm>
            <a:off x="7704177" y="4000857"/>
            <a:ext cx="59112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Flask app running on local/server environment for deployment</a:t>
            </a:r>
            <a:endParaRPr lang="en-US" sz="1550" dirty="0"/>
          </a:p>
        </p:txBody>
      </p:sp>
      <p:sp>
        <p:nvSpPr>
          <p:cNvPr id="11" name="Shape 9"/>
          <p:cNvSpPr/>
          <p:nvPr/>
        </p:nvSpPr>
        <p:spPr>
          <a:xfrm>
            <a:off x="793790" y="4737973"/>
            <a:ext cx="6422231" cy="1204674"/>
          </a:xfrm>
          <a:prstGeom prst="roundRect">
            <a:avLst>
              <a:gd name="adj" fmla="val 9109"/>
            </a:avLst>
          </a:prstGeom>
          <a:solidFill>
            <a:srgbClr val="FFFFFF">
              <a:alpha val="95000"/>
            </a:srgbClr>
          </a:solidFill>
          <a:ln w="22860">
            <a:solidFill>
              <a:srgbClr val="B2D4E5"/>
            </a:solidFill>
            <a:prstDash val="solid"/>
          </a:ln>
        </p:spPr>
        <p:txBody>
          <a:bodyPr/>
          <a:lstStyle/>
          <a:p>
            <a:endParaRPr lang="en-US"/>
          </a:p>
        </p:txBody>
      </p:sp>
      <p:sp>
        <p:nvSpPr>
          <p:cNvPr id="12" name="Shape 10"/>
          <p:cNvSpPr/>
          <p:nvPr/>
        </p:nvSpPr>
        <p:spPr>
          <a:xfrm>
            <a:off x="770930" y="4737973"/>
            <a:ext cx="91440" cy="1204674"/>
          </a:xfrm>
          <a:prstGeom prst="roundRect">
            <a:avLst>
              <a:gd name="adj" fmla="val 91163"/>
            </a:avLst>
          </a:prstGeom>
          <a:solidFill>
            <a:srgbClr val="007EBD"/>
          </a:solidFill>
          <a:ln/>
        </p:spPr>
        <p:txBody>
          <a:bodyPr/>
          <a:lstStyle/>
          <a:p>
            <a:endParaRPr lang="en-US"/>
          </a:p>
        </p:txBody>
      </p:sp>
      <p:sp>
        <p:nvSpPr>
          <p:cNvPr id="13" name="Text 11"/>
          <p:cNvSpPr/>
          <p:nvPr/>
        </p:nvSpPr>
        <p:spPr>
          <a:xfrm>
            <a:off x="1083588" y="495919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Testing Tools</a:t>
            </a:r>
            <a:endParaRPr lang="en-US" sz="2050" dirty="0"/>
          </a:p>
        </p:txBody>
      </p:sp>
      <p:sp>
        <p:nvSpPr>
          <p:cNvPr id="14" name="Text 12"/>
          <p:cNvSpPr/>
          <p:nvPr/>
        </p:nvSpPr>
        <p:spPr>
          <a:xfrm>
            <a:off x="1083588" y="5403890"/>
            <a:ext cx="59112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Postman for API testing</a:t>
            </a:r>
            <a:endParaRPr lang="en-US" sz="1550" dirty="0"/>
          </a:p>
        </p:txBody>
      </p:sp>
      <p:sp>
        <p:nvSpPr>
          <p:cNvPr id="15" name="Shape 13"/>
          <p:cNvSpPr/>
          <p:nvPr/>
        </p:nvSpPr>
        <p:spPr>
          <a:xfrm>
            <a:off x="7414379" y="4737973"/>
            <a:ext cx="6422231" cy="1204674"/>
          </a:xfrm>
          <a:prstGeom prst="roundRect">
            <a:avLst>
              <a:gd name="adj" fmla="val 9109"/>
            </a:avLst>
          </a:prstGeom>
          <a:solidFill>
            <a:srgbClr val="FFFFFF">
              <a:alpha val="95000"/>
            </a:srgbClr>
          </a:solidFill>
          <a:ln w="22860">
            <a:solidFill>
              <a:srgbClr val="B2D4E5"/>
            </a:solidFill>
            <a:prstDash val="solid"/>
          </a:ln>
        </p:spPr>
        <p:txBody>
          <a:bodyPr/>
          <a:lstStyle/>
          <a:p>
            <a:endParaRPr lang="en-US"/>
          </a:p>
        </p:txBody>
      </p:sp>
      <p:sp>
        <p:nvSpPr>
          <p:cNvPr id="16" name="Shape 14"/>
          <p:cNvSpPr/>
          <p:nvPr/>
        </p:nvSpPr>
        <p:spPr>
          <a:xfrm>
            <a:off x="7391519" y="4737973"/>
            <a:ext cx="91440" cy="1204674"/>
          </a:xfrm>
          <a:prstGeom prst="roundRect">
            <a:avLst>
              <a:gd name="adj" fmla="val 91163"/>
            </a:avLst>
          </a:prstGeom>
          <a:solidFill>
            <a:srgbClr val="007EBD"/>
          </a:solidFill>
          <a:ln/>
        </p:spPr>
        <p:txBody>
          <a:bodyPr/>
          <a:lstStyle/>
          <a:p>
            <a:endParaRPr lang="en-US"/>
          </a:p>
        </p:txBody>
      </p:sp>
      <p:sp>
        <p:nvSpPr>
          <p:cNvPr id="17" name="Text 15"/>
          <p:cNvSpPr/>
          <p:nvPr/>
        </p:nvSpPr>
        <p:spPr>
          <a:xfrm>
            <a:off x="7704177" y="495919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Cloud Options</a:t>
            </a:r>
            <a:endParaRPr lang="en-US" sz="2050" dirty="0"/>
          </a:p>
        </p:txBody>
      </p:sp>
      <p:sp>
        <p:nvSpPr>
          <p:cNvPr id="18" name="Text 16"/>
          <p:cNvSpPr/>
          <p:nvPr/>
        </p:nvSpPr>
        <p:spPr>
          <a:xfrm>
            <a:off x="7704177" y="5403890"/>
            <a:ext cx="59112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Optional cloud deployment on AWS/GCP/Heroku</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523643"/>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Benefits</a:t>
            </a:r>
            <a:endParaRPr lang="en-US" sz="4100" dirty="0"/>
          </a:p>
        </p:txBody>
      </p:sp>
      <p:sp>
        <p:nvSpPr>
          <p:cNvPr id="3" name="Shape 1"/>
          <p:cNvSpPr/>
          <p:nvPr/>
        </p:nvSpPr>
        <p:spPr>
          <a:xfrm>
            <a:off x="793790" y="2571750"/>
            <a:ext cx="6422231" cy="1967865"/>
          </a:xfrm>
          <a:prstGeom prst="roundRect">
            <a:avLst>
              <a:gd name="adj" fmla="val 4236"/>
            </a:avLst>
          </a:prstGeom>
          <a:solidFill>
            <a:srgbClr val="CCEEFF"/>
          </a:solidFill>
          <a:ln w="7620">
            <a:solidFill>
              <a:srgbClr val="B2D4E5"/>
            </a:solidFill>
            <a:prstDash val="solid"/>
          </a:ln>
        </p:spPr>
        <p:txBody>
          <a:bodyPr/>
          <a:lstStyle/>
          <a:p>
            <a:endParaRPr lang="en-US"/>
          </a:p>
        </p:txBody>
      </p:sp>
      <p:sp>
        <p:nvSpPr>
          <p:cNvPr id="4" name="Shape 2"/>
          <p:cNvSpPr/>
          <p:nvPr/>
        </p:nvSpPr>
        <p:spPr>
          <a:xfrm>
            <a:off x="999768" y="2777728"/>
            <a:ext cx="595313" cy="595313"/>
          </a:xfrm>
          <a:prstGeom prst="roundRect">
            <a:avLst>
              <a:gd name="adj" fmla="val 15358451"/>
            </a:avLst>
          </a:prstGeom>
          <a:solidFill>
            <a:srgbClr val="007EBD"/>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63479" y="2907863"/>
            <a:ext cx="267891" cy="334923"/>
          </a:xfrm>
          <a:prstGeom prst="rect">
            <a:avLst/>
          </a:prstGeom>
        </p:spPr>
      </p:pic>
      <p:sp>
        <p:nvSpPr>
          <p:cNvPr id="6" name="Text 3"/>
          <p:cNvSpPr/>
          <p:nvPr/>
        </p:nvSpPr>
        <p:spPr>
          <a:xfrm>
            <a:off x="999768" y="357139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Process Efficiency</a:t>
            </a:r>
            <a:endParaRPr lang="en-US" sz="2050" dirty="0"/>
          </a:p>
        </p:txBody>
      </p:sp>
      <p:sp>
        <p:nvSpPr>
          <p:cNvPr id="7" name="Text 4"/>
          <p:cNvSpPr/>
          <p:nvPr/>
        </p:nvSpPr>
        <p:spPr>
          <a:xfrm>
            <a:off x="999768" y="4016097"/>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Streamlines recruitment process</a:t>
            </a:r>
            <a:endParaRPr lang="en-US" sz="1550" dirty="0"/>
          </a:p>
        </p:txBody>
      </p:sp>
      <p:sp>
        <p:nvSpPr>
          <p:cNvPr id="8" name="Shape 5"/>
          <p:cNvSpPr/>
          <p:nvPr/>
        </p:nvSpPr>
        <p:spPr>
          <a:xfrm>
            <a:off x="7414379" y="2571750"/>
            <a:ext cx="6422231" cy="1967865"/>
          </a:xfrm>
          <a:prstGeom prst="roundRect">
            <a:avLst>
              <a:gd name="adj" fmla="val 4236"/>
            </a:avLst>
          </a:prstGeom>
          <a:solidFill>
            <a:srgbClr val="CCEEFF"/>
          </a:solidFill>
          <a:ln w="7620">
            <a:solidFill>
              <a:srgbClr val="B2D4E5"/>
            </a:solidFill>
            <a:prstDash val="solid"/>
          </a:ln>
        </p:spPr>
        <p:txBody>
          <a:bodyPr/>
          <a:lstStyle/>
          <a:p>
            <a:endParaRPr lang="en-US"/>
          </a:p>
        </p:txBody>
      </p:sp>
      <p:sp>
        <p:nvSpPr>
          <p:cNvPr id="9" name="Shape 6"/>
          <p:cNvSpPr/>
          <p:nvPr/>
        </p:nvSpPr>
        <p:spPr>
          <a:xfrm>
            <a:off x="7620357" y="2777728"/>
            <a:ext cx="595313" cy="595313"/>
          </a:xfrm>
          <a:prstGeom prst="roundRect">
            <a:avLst>
              <a:gd name="adj" fmla="val 15358451"/>
            </a:avLst>
          </a:prstGeom>
          <a:solidFill>
            <a:srgbClr val="007EB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784068" y="2907863"/>
            <a:ext cx="267891" cy="334923"/>
          </a:xfrm>
          <a:prstGeom prst="rect">
            <a:avLst/>
          </a:prstGeom>
        </p:spPr>
      </p:pic>
      <p:sp>
        <p:nvSpPr>
          <p:cNvPr id="11" name="Text 7"/>
          <p:cNvSpPr/>
          <p:nvPr/>
        </p:nvSpPr>
        <p:spPr>
          <a:xfrm>
            <a:off x="7620357" y="357139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Time Savings</a:t>
            </a:r>
            <a:endParaRPr lang="en-US" sz="2050" dirty="0"/>
          </a:p>
        </p:txBody>
      </p:sp>
      <p:sp>
        <p:nvSpPr>
          <p:cNvPr id="12" name="Text 8"/>
          <p:cNvSpPr/>
          <p:nvPr/>
        </p:nvSpPr>
        <p:spPr>
          <a:xfrm>
            <a:off x="7620357" y="4016097"/>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Saves recruiter time by automated initial screening</a:t>
            </a:r>
            <a:endParaRPr lang="en-US" sz="1550" dirty="0"/>
          </a:p>
        </p:txBody>
      </p:sp>
      <p:sp>
        <p:nvSpPr>
          <p:cNvPr id="13" name="Shape 9"/>
          <p:cNvSpPr/>
          <p:nvPr/>
        </p:nvSpPr>
        <p:spPr>
          <a:xfrm>
            <a:off x="793790" y="4737973"/>
            <a:ext cx="6422231" cy="1967865"/>
          </a:xfrm>
          <a:prstGeom prst="roundRect">
            <a:avLst>
              <a:gd name="adj" fmla="val 4236"/>
            </a:avLst>
          </a:prstGeom>
          <a:solidFill>
            <a:srgbClr val="CCEEFF"/>
          </a:solidFill>
          <a:ln w="7620">
            <a:solidFill>
              <a:srgbClr val="B2D4E5"/>
            </a:solidFill>
            <a:prstDash val="solid"/>
          </a:ln>
        </p:spPr>
        <p:txBody>
          <a:bodyPr/>
          <a:lstStyle/>
          <a:p>
            <a:endParaRPr lang="en-US"/>
          </a:p>
        </p:txBody>
      </p:sp>
      <p:sp>
        <p:nvSpPr>
          <p:cNvPr id="14" name="Shape 10"/>
          <p:cNvSpPr/>
          <p:nvPr/>
        </p:nvSpPr>
        <p:spPr>
          <a:xfrm>
            <a:off x="999768" y="4943951"/>
            <a:ext cx="595313" cy="595313"/>
          </a:xfrm>
          <a:prstGeom prst="roundRect">
            <a:avLst>
              <a:gd name="adj" fmla="val 15358451"/>
            </a:avLst>
          </a:prstGeom>
          <a:solidFill>
            <a:srgbClr val="007EBD"/>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1163479" y="5074087"/>
            <a:ext cx="267891" cy="334923"/>
          </a:xfrm>
          <a:prstGeom prst="rect">
            <a:avLst/>
          </a:prstGeom>
        </p:spPr>
      </p:pic>
      <p:sp>
        <p:nvSpPr>
          <p:cNvPr id="16" name="Text 11"/>
          <p:cNvSpPr/>
          <p:nvPr/>
        </p:nvSpPr>
        <p:spPr>
          <a:xfrm>
            <a:off x="999768" y="573762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Consistent Filtering</a:t>
            </a:r>
            <a:endParaRPr lang="en-US" sz="2050" dirty="0"/>
          </a:p>
        </p:txBody>
      </p:sp>
      <p:sp>
        <p:nvSpPr>
          <p:cNvPr id="17" name="Text 12"/>
          <p:cNvSpPr/>
          <p:nvPr/>
        </p:nvSpPr>
        <p:spPr>
          <a:xfrm>
            <a:off x="999768" y="6182320"/>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Consistent, unbiased candidate filtering</a:t>
            </a:r>
            <a:endParaRPr lang="en-US" sz="1550" dirty="0"/>
          </a:p>
        </p:txBody>
      </p:sp>
      <p:sp>
        <p:nvSpPr>
          <p:cNvPr id="18" name="Shape 13"/>
          <p:cNvSpPr/>
          <p:nvPr/>
        </p:nvSpPr>
        <p:spPr>
          <a:xfrm>
            <a:off x="7414379" y="4737973"/>
            <a:ext cx="6422231" cy="1967865"/>
          </a:xfrm>
          <a:prstGeom prst="roundRect">
            <a:avLst>
              <a:gd name="adj" fmla="val 4236"/>
            </a:avLst>
          </a:prstGeom>
          <a:solidFill>
            <a:srgbClr val="CCEEFF"/>
          </a:solidFill>
          <a:ln w="7620">
            <a:solidFill>
              <a:srgbClr val="B2D4E5"/>
            </a:solidFill>
            <a:prstDash val="solid"/>
          </a:ln>
        </p:spPr>
        <p:txBody>
          <a:bodyPr/>
          <a:lstStyle/>
          <a:p>
            <a:endParaRPr lang="en-US"/>
          </a:p>
        </p:txBody>
      </p:sp>
      <p:sp>
        <p:nvSpPr>
          <p:cNvPr id="19" name="Shape 14"/>
          <p:cNvSpPr/>
          <p:nvPr/>
        </p:nvSpPr>
        <p:spPr>
          <a:xfrm>
            <a:off x="7620357" y="4943951"/>
            <a:ext cx="595313" cy="595313"/>
          </a:xfrm>
          <a:prstGeom prst="roundRect">
            <a:avLst>
              <a:gd name="adj" fmla="val 15358451"/>
            </a:avLst>
          </a:prstGeom>
          <a:solidFill>
            <a:srgbClr val="007EBD"/>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7784068" y="5074087"/>
            <a:ext cx="267891" cy="334923"/>
          </a:xfrm>
          <a:prstGeom prst="rect">
            <a:avLst/>
          </a:prstGeom>
        </p:spPr>
      </p:pic>
      <p:sp>
        <p:nvSpPr>
          <p:cNvPr id="21" name="Text 15"/>
          <p:cNvSpPr/>
          <p:nvPr/>
        </p:nvSpPr>
        <p:spPr>
          <a:xfrm>
            <a:off x="7620357" y="5737622"/>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Scalability</a:t>
            </a:r>
            <a:endParaRPr lang="en-US" sz="2050" dirty="0"/>
          </a:p>
        </p:txBody>
      </p:sp>
      <p:sp>
        <p:nvSpPr>
          <p:cNvPr id="22" name="Text 16"/>
          <p:cNvSpPr/>
          <p:nvPr/>
        </p:nvSpPr>
        <p:spPr>
          <a:xfrm>
            <a:off x="7620357" y="6182320"/>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Scalable with additional data &amp; roles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280874"/>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Future Scope</a:t>
            </a:r>
            <a:endParaRPr lang="en-US" sz="4100" dirty="0"/>
          </a:p>
        </p:txBody>
      </p:sp>
      <p:sp>
        <p:nvSpPr>
          <p:cNvPr id="3" name="Shape 1"/>
          <p:cNvSpPr/>
          <p:nvPr/>
        </p:nvSpPr>
        <p:spPr>
          <a:xfrm>
            <a:off x="1091446" y="2825115"/>
            <a:ext cx="6124456" cy="198358"/>
          </a:xfrm>
          <a:prstGeom prst="roundRect">
            <a:avLst>
              <a:gd name="adj" fmla="val 42025"/>
            </a:avLst>
          </a:prstGeom>
          <a:solidFill>
            <a:srgbClr val="CCEEFF"/>
          </a:solidFill>
          <a:ln w="7620">
            <a:solidFill>
              <a:srgbClr val="B2D4E5"/>
            </a:solidFill>
            <a:prstDash val="solid"/>
          </a:ln>
        </p:spPr>
        <p:txBody>
          <a:bodyPr/>
          <a:lstStyle/>
          <a:p>
            <a:endParaRPr lang="en-US"/>
          </a:p>
        </p:txBody>
      </p:sp>
      <p:sp>
        <p:nvSpPr>
          <p:cNvPr id="4" name="Shape 2"/>
          <p:cNvSpPr/>
          <p:nvPr/>
        </p:nvSpPr>
        <p:spPr>
          <a:xfrm>
            <a:off x="793790" y="2626638"/>
            <a:ext cx="595313" cy="595313"/>
          </a:xfrm>
          <a:prstGeom prst="roundRect">
            <a:avLst>
              <a:gd name="adj" fmla="val 76800"/>
            </a:avLst>
          </a:prstGeom>
          <a:solidFill>
            <a:srgbClr val="CCEEFF"/>
          </a:solidFill>
          <a:ln w="7620">
            <a:solidFill>
              <a:srgbClr val="B2D4E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42618" y="2738318"/>
            <a:ext cx="297656" cy="372070"/>
          </a:xfrm>
          <a:prstGeom prst="rect">
            <a:avLst/>
          </a:prstGeom>
        </p:spPr>
      </p:pic>
      <p:sp>
        <p:nvSpPr>
          <p:cNvPr id="6" name="Text 3"/>
          <p:cNvSpPr/>
          <p:nvPr/>
        </p:nvSpPr>
        <p:spPr>
          <a:xfrm>
            <a:off x="992148" y="342030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Deep Embeddings</a:t>
            </a:r>
            <a:endParaRPr lang="en-US" sz="2050" dirty="0"/>
          </a:p>
        </p:txBody>
      </p:sp>
      <p:sp>
        <p:nvSpPr>
          <p:cNvPr id="7" name="Text 4"/>
          <p:cNvSpPr/>
          <p:nvPr/>
        </p:nvSpPr>
        <p:spPr>
          <a:xfrm>
            <a:off x="992148" y="3865007"/>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Incorporate deep embeddings (BERT, etc.) for better feature representation</a:t>
            </a:r>
            <a:endParaRPr lang="en-US" sz="1550" dirty="0"/>
          </a:p>
        </p:txBody>
      </p:sp>
      <p:sp>
        <p:nvSpPr>
          <p:cNvPr id="8" name="Shape 5"/>
          <p:cNvSpPr/>
          <p:nvPr/>
        </p:nvSpPr>
        <p:spPr>
          <a:xfrm>
            <a:off x="7712035" y="2527459"/>
            <a:ext cx="6124456" cy="198358"/>
          </a:xfrm>
          <a:prstGeom prst="roundRect">
            <a:avLst>
              <a:gd name="adj" fmla="val 42025"/>
            </a:avLst>
          </a:prstGeom>
          <a:solidFill>
            <a:srgbClr val="CCEEFF"/>
          </a:solidFill>
          <a:ln w="7620">
            <a:solidFill>
              <a:srgbClr val="B2D4E5"/>
            </a:solidFill>
            <a:prstDash val="solid"/>
          </a:ln>
        </p:spPr>
        <p:txBody>
          <a:bodyPr/>
          <a:lstStyle/>
          <a:p>
            <a:endParaRPr lang="en-US"/>
          </a:p>
        </p:txBody>
      </p:sp>
      <p:sp>
        <p:nvSpPr>
          <p:cNvPr id="9" name="Shape 6"/>
          <p:cNvSpPr/>
          <p:nvPr/>
        </p:nvSpPr>
        <p:spPr>
          <a:xfrm>
            <a:off x="7414379" y="2328982"/>
            <a:ext cx="595313" cy="595313"/>
          </a:xfrm>
          <a:prstGeom prst="roundRect">
            <a:avLst>
              <a:gd name="adj" fmla="val 76800"/>
            </a:avLst>
          </a:prstGeom>
          <a:solidFill>
            <a:srgbClr val="CCEEFF"/>
          </a:solidFill>
          <a:ln w="7620">
            <a:solidFill>
              <a:srgbClr val="B2D4E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7563207" y="2440662"/>
            <a:ext cx="297656" cy="372070"/>
          </a:xfrm>
          <a:prstGeom prst="rect">
            <a:avLst/>
          </a:prstGeom>
        </p:spPr>
      </p:pic>
      <p:sp>
        <p:nvSpPr>
          <p:cNvPr id="11" name="Text 7"/>
          <p:cNvSpPr/>
          <p:nvPr/>
        </p:nvSpPr>
        <p:spPr>
          <a:xfrm>
            <a:off x="7612737" y="3122652"/>
            <a:ext cx="32176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Hierarchical Classification</a:t>
            </a:r>
            <a:endParaRPr lang="en-US" sz="2050" dirty="0"/>
          </a:p>
        </p:txBody>
      </p:sp>
      <p:sp>
        <p:nvSpPr>
          <p:cNvPr id="12" name="Text 8"/>
          <p:cNvSpPr/>
          <p:nvPr/>
        </p:nvSpPr>
        <p:spPr>
          <a:xfrm>
            <a:off x="7612737" y="3567351"/>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Add multi-stage hierarchical classification</a:t>
            </a:r>
            <a:endParaRPr lang="en-US" sz="1550" dirty="0"/>
          </a:p>
        </p:txBody>
      </p:sp>
      <p:sp>
        <p:nvSpPr>
          <p:cNvPr id="13" name="Shape 9"/>
          <p:cNvSpPr/>
          <p:nvPr/>
        </p:nvSpPr>
        <p:spPr>
          <a:xfrm>
            <a:off x="1091446" y="5392936"/>
            <a:ext cx="6124456" cy="198358"/>
          </a:xfrm>
          <a:prstGeom prst="roundRect">
            <a:avLst>
              <a:gd name="adj" fmla="val 42025"/>
            </a:avLst>
          </a:prstGeom>
          <a:solidFill>
            <a:srgbClr val="CCEEFF"/>
          </a:solidFill>
          <a:ln w="7620">
            <a:solidFill>
              <a:srgbClr val="B2D4E5"/>
            </a:solidFill>
            <a:prstDash val="solid"/>
          </a:ln>
        </p:spPr>
        <p:txBody>
          <a:bodyPr/>
          <a:lstStyle/>
          <a:p>
            <a:endParaRPr lang="en-US"/>
          </a:p>
        </p:txBody>
      </p:sp>
      <p:sp>
        <p:nvSpPr>
          <p:cNvPr id="14" name="Shape 10"/>
          <p:cNvSpPr/>
          <p:nvPr/>
        </p:nvSpPr>
        <p:spPr>
          <a:xfrm>
            <a:off x="793790" y="5194459"/>
            <a:ext cx="595313" cy="595313"/>
          </a:xfrm>
          <a:prstGeom prst="roundRect">
            <a:avLst>
              <a:gd name="adj" fmla="val 76800"/>
            </a:avLst>
          </a:prstGeom>
          <a:solidFill>
            <a:srgbClr val="CCEEFF"/>
          </a:solidFill>
          <a:ln w="7620">
            <a:solidFill>
              <a:srgbClr val="B2D4E5"/>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42618" y="5306139"/>
            <a:ext cx="297656" cy="372070"/>
          </a:xfrm>
          <a:prstGeom prst="rect">
            <a:avLst/>
          </a:prstGeom>
        </p:spPr>
      </p:pic>
      <p:sp>
        <p:nvSpPr>
          <p:cNvPr id="16" name="Text 11"/>
          <p:cNvSpPr/>
          <p:nvPr/>
        </p:nvSpPr>
        <p:spPr>
          <a:xfrm>
            <a:off x="992148" y="598812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User Interface</a:t>
            </a:r>
            <a:endParaRPr lang="en-US" sz="2050" dirty="0"/>
          </a:p>
        </p:txBody>
      </p:sp>
      <p:sp>
        <p:nvSpPr>
          <p:cNvPr id="17" name="Text 12"/>
          <p:cNvSpPr/>
          <p:nvPr/>
        </p:nvSpPr>
        <p:spPr>
          <a:xfrm>
            <a:off x="992148" y="6432828"/>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UI for bulk upload and report generation</a:t>
            </a:r>
            <a:endParaRPr lang="en-US" sz="1550" dirty="0"/>
          </a:p>
        </p:txBody>
      </p:sp>
      <p:sp>
        <p:nvSpPr>
          <p:cNvPr id="18" name="Shape 13"/>
          <p:cNvSpPr/>
          <p:nvPr/>
        </p:nvSpPr>
        <p:spPr>
          <a:xfrm>
            <a:off x="7712035" y="5095280"/>
            <a:ext cx="6124456" cy="198358"/>
          </a:xfrm>
          <a:prstGeom prst="roundRect">
            <a:avLst>
              <a:gd name="adj" fmla="val 42025"/>
            </a:avLst>
          </a:prstGeom>
          <a:solidFill>
            <a:srgbClr val="CCEEFF"/>
          </a:solidFill>
          <a:ln w="7620">
            <a:solidFill>
              <a:srgbClr val="B2D4E5"/>
            </a:solidFill>
            <a:prstDash val="solid"/>
          </a:ln>
        </p:spPr>
        <p:txBody>
          <a:bodyPr/>
          <a:lstStyle/>
          <a:p>
            <a:endParaRPr lang="en-US"/>
          </a:p>
        </p:txBody>
      </p:sp>
      <p:sp>
        <p:nvSpPr>
          <p:cNvPr id="19" name="Shape 14"/>
          <p:cNvSpPr/>
          <p:nvPr/>
        </p:nvSpPr>
        <p:spPr>
          <a:xfrm>
            <a:off x="7414379" y="4896803"/>
            <a:ext cx="595313" cy="595313"/>
          </a:xfrm>
          <a:prstGeom prst="roundRect">
            <a:avLst>
              <a:gd name="adj" fmla="val 76800"/>
            </a:avLst>
          </a:prstGeom>
          <a:solidFill>
            <a:srgbClr val="CCEEFF"/>
          </a:solidFill>
          <a:ln w="7620">
            <a:solidFill>
              <a:srgbClr val="B2D4E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7563207" y="5008483"/>
            <a:ext cx="297656" cy="372070"/>
          </a:xfrm>
          <a:prstGeom prst="rect">
            <a:avLst/>
          </a:prstGeom>
        </p:spPr>
      </p:pic>
      <p:sp>
        <p:nvSpPr>
          <p:cNvPr id="21" name="Text 15"/>
          <p:cNvSpPr/>
          <p:nvPr/>
        </p:nvSpPr>
        <p:spPr>
          <a:xfrm>
            <a:off x="7612737" y="5690473"/>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Cloud Deployment</a:t>
            </a:r>
            <a:endParaRPr lang="en-US" sz="2050" dirty="0"/>
          </a:p>
        </p:txBody>
      </p:sp>
      <p:sp>
        <p:nvSpPr>
          <p:cNvPr id="22" name="Text 16"/>
          <p:cNvSpPr/>
          <p:nvPr/>
        </p:nvSpPr>
        <p:spPr>
          <a:xfrm>
            <a:off x="7612737" y="6135172"/>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Cloud deployment with authentication &amp; monitoring</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1300</Words>
  <Application>Microsoft Office PowerPoint</Application>
  <PresentationFormat>Custom</PresentationFormat>
  <Paragraphs>129</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Petrona Bold</vt:lpstr>
      <vt:lpstr>Arial</vt:lpstr>
      <vt:lpstr>Petrona Light</vt:lpstr>
      <vt:lpstr>Inter</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Vansh Kapoor</cp:lastModifiedBy>
  <cp:revision>17</cp:revision>
  <dcterms:created xsi:type="dcterms:W3CDTF">2025-09-20T22:12:54Z</dcterms:created>
  <dcterms:modified xsi:type="dcterms:W3CDTF">2025-09-27T16:51:45Z</dcterms:modified>
</cp:coreProperties>
</file>